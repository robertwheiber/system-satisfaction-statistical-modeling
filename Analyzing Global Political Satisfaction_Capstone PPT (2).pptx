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3" autoAdjust="0"/>
    <p:restoredTop sz="94660"/>
  </p:normalViewPr>
  <p:slideViewPr>
    <p:cSldViewPr snapToGrid="0">
      <p:cViewPr>
        <p:scale>
          <a:sx n="100" d="100"/>
          <a:sy n="100" d="100"/>
        </p:scale>
        <p:origin x="-243" y="-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10DB93-04AA-42D6-BC77-40CAB01F4C74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761182F-6458-4AEF-82E7-2F10BEB5704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Political satisfaction is not explained by regime labels alone.</a:t>
          </a:r>
          <a:endParaRPr lang="en-US" dirty="0"/>
        </a:p>
      </dgm:t>
    </dgm:pt>
    <dgm:pt modelId="{7C726A90-4947-42B9-8210-7C91DA17695E}" type="parTrans" cxnId="{F9827776-0AFB-4A39-8C28-0BD70F71F7F0}">
      <dgm:prSet/>
      <dgm:spPr/>
      <dgm:t>
        <a:bodyPr/>
        <a:lstStyle/>
        <a:p>
          <a:endParaRPr lang="en-US"/>
        </a:p>
      </dgm:t>
    </dgm:pt>
    <dgm:pt modelId="{D0851248-ECA3-4014-80C3-9ED8B9E019AD}" type="sibTrans" cxnId="{F9827776-0AFB-4A39-8C28-0BD70F71F7F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0D51824-5E72-4979-83E1-AD045904ED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Citizens also respond to performance, trust, and transparency.</a:t>
          </a:r>
          <a:endParaRPr lang="en-US" dirty="0"/>
        </a:p>
      </dgm:t>
    </dgm:pt>
    <dgm:pt modelId="{5630F315-6646-4BFD-8C48-1889F17913DB}" type="parTrans" cxnId="{50E6BE73-6BE3-46B0-A989-7A66AE6D3E7C}">
      <dgm:prSet/>
      <dgm:spPr/>
      <dgm:t>
        <a:bodyPr/>
        <a:lstStyle/>
        <a:p>
          <a:endParaRPr lang="en-US"/>
        </a:p>
      </dgm:t>
    </dgm:pt>
    <dgm:pt modelId="{F7CC9EDE-4361-4A70-B86C-3C577144601E}" type="sibTrans" cxnId="{50E6BE73-6BE3-46B0-A989-7A66AE6D3E7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7FD1CED-DD56-4C13-8348-DF43657A62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Regime context may change the strength of these effects.</a:t>
          </a:r>
          <a:endParaRPr lang="en-US" dirty="0"/>
        </a:p>
      </dgm:t>
    </dgm:pt>
    <dgm:pt modelId="{630FC8F5-C5A1-4D11-8D74-E7797CFE3B17}" type="parTrans" cxnId="{0289498B-9E0A-4B43-AD52-9B0BAE28EDDE}">
      <dgm:prSet/>
      <dgm:spPr/>
      <dgm:t>
        <a:bodyPr/>
        <a:lstStyle/>
        <a:p>
          <a:endParaRPr lang="en-US"/>
        </a:p>
      </dgm:t>
    </dgm:pt>
    <dgm:pt modelId="{752D6910-8E62-4A01-884B-CAFCFB97B424}" type="sibTrans" cxnId="{0289498B-9E0A-4B43-AD52-9B0BAE28EDDE}">
      <dgm:prSet/>
      <dgm:spPr/>
      <dgm:t>
        <a:bodyPr/>
        <a:lstStyle/>
        <a:p>
          <a:endParaRPr lang="en-US"/>
        </a:p>
      </dgm:t>
    </dgm:pt>
    <dgm:pt modelId="{7A5D8F7C-0A56-4E8C-BA4A-41C58A822A1E}" type="pres">
      <dgm:prSet presAssocID="{E410DB93-04AA-42D6-BC77-40CAB01F4C74}" presName="root" presStyleCnt="0">
        <dgm:presLayoutVars>
          <dgm:dir/>
          <dgm:resizeHandles val="exact"/>
        </dgm:presLayoutVars>
      </dgm:prSet>
      <dgm:spPr/>
    </dgm:pt>
    <dgm:pt modelId="{3177AFB4-DA5E-42FB-BF79-631BE74099BD}" type="pres">
      <dgm:prSet presAssocID="{E410DB93-04AA-42D6-BC77-40CAB01F4C74}" presName="container" presStyleCnt="0">
        <dgm:presLayoutVars>
          <dgm:dir/>
          <dgm:resizeHandles val="exact"/>
        </dgm:presLayoutVars>
      </dgm:prSet>
      <dgm:spPr/>
    </dgm:pt>
    <dgm:pt modelId="{63480F78-D645-4680-93EA-24557A1A1C78}" type="pres">
      <dgm:prSet presAssocID="{4761182F-6458-4AEF-82E7-2F10BEB57048}" presName="compNode" presStyleCnt="0"/>
      <dgm:spPr/>
    </dgm:pt>
    <dgm:pt modelId="{DCDD3ED0-B694-4668-9300-633749216EDD}" type="pres">
      <dgm:prSet presAssocID="{4761182F-6458-4AEF-82E7-2F10BEB57048}" presName="iconBgRect" presStyleLbl="bgShp" presStyleIdx="0" presStyleCnt="3"/>
      <dgm:spPr/>
    </dgm:pt>
    <dgm:pt modelId="{9186E12B-6141-4561-BC6B-2C807C2C7E46}" type="pres">
      <dgm:prSet presAssocID="{4761182F-6458-4AEF-82E7-2F10BEB5704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ecturer"/>
        </a:ext>
      </dgm:extLst>
    </dgm:pt>
    <dgm:pt modelId="{946DED99-CFBD-465C-869F-D7F7437E8BE2}" type="pres">
      <dgm:prSet presAssocID="{4761182F-6458-4AEF-82E7-2F10BEB57048}" presName="spaceRect" presStyleCnt="0"/>
      <dgm:spPr/>
    </dgm:pt>
    <dgm:pt modelId="{6C815748-4AAA-4A09-B15C-359816EBE736}" type="pres">
      <dgm:prSet presAssocID="{4761182F-6458-4AEF-82E7-2F10BEB57048}" presName="textRect" presStyleLbl="revTx" presStyleIdx="0" presStyleCnt="3">
        <dgm:presLayoutVars>
          <dgm:chMax val="1"/>
          <dgm:chPref val="1"/>
        </dgm:presLayoutVars>
      </dgm:prSet>
      <dgm:spPr/>
    </dgm:pt>
    <dgm:pt modelId="{13E05AF1-9C7E-476C-8562-DEA659A190DA}" type="pres">
      <dgm:prSet presAssocID="{D0851248-ECA3-4014-80C3-9ED8B9E019AD}" presName="sibTrans" presStyleLbl="sibTrans2D1" presStyleIdx="0" presStyleCnt="0"/>
      <dgm:spPr/>
    </dgm:pt>
    <dgm:pt modelId="{28230D8F-10A6-4914-937C-05B0A7DF7D86}" type="pres">
      <dgm:prSet presAssocID="{20D51824-5E72-4979-83E1-AD045904ED71}" presName="compNode" presStyleCnt="0"/>
      <dgm:spPr/>
    </dgm:pt>
    <dgm:pt modelId="{7D037FBC-3208-40EA-8958-3CC6590D48CA}" type="pres">
      <dgm:prSet presAssocID="{20D51824-5E72-4979-83E1-AD045904ED71}" presName="iconBgRect" presStyleLbl="bgShp" presStyleIdx="1" presStyleCnt="3"/>
      <dgm:spPr/>
    </dgm:pt>
    <dgm:pt modelId="{B7C7FC58-BED7-49F7-B76E-40A51C8818E9}" type="pres">
      <dgm:prSet presAssocID="{20D51824-5E72-4979-83E1-AD045904ED7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ummingBird"/>
        </a:ext>
      </dgm:extLst>
    </dgm:pt>
    <dgm:pt modelId="{736F9D30-1077-420D-9981-5C1246E11E4D}" type="pres">
      <dgm:prSet presAssocID="{20D51824-5E72-4979-83E1-AD045904ED71}" presName="spaceRect" presStyleCnt="0"/>
      <dgm:spPr/>
    </dgm:pt>
    <dgm:pt modelId="{51D806BE-E5E4-4DD8-9226-5644F842515F}" type="pres">
      <dgm:prSet presAssocID="{20D51824-5E72-4979-83E1-AD045904ED71}" presName="textRect" presStyleLbl="revTx" presStyleIdx="1" presStyleCnt="3">
        <dgm:presLayoutVars>
          <dgm:chMax val="1"/>
          <dgm:chPref val="1"/>
        </dgm:presLayoutVars>
      </dgm:prSet>
      <dgm:spPr/>
    </dgm:pt>
    <dgm:pt modelId="{AC6C8A38-7F71-4B31-8C39-33C7028E17AE}" type="pres">
      <dgm:prSet presAssocID="{F7CC9EDE-4361-4A70-B86C-3C577144601E}" presName="sibTrans" presStyleLbl="sibTrans2D1" presStyleIdx="0" presStyleCnt="0"/>
      <dgm:spPr/>
    </dgm:pt>
    <dgm:pt modelId="{2EF744EC-643A-480B-AB7C-B91F726B86F7}" type="pres">
      <dgm:prSet presAssocID="{97FD1CED-DD56-4C13-8348-DF43657A62F8}" presName="compNode" presStyleCnt="0"/>
      <dgm:spPr/>
    </dgm:pt>
    <dgm:pt modelId="{C7C3C986-BE78-4C78-A1F0-27216E88EE2F}" type="pres">
      <dgm:prSet presAssocID="{97FD1CED-DD56-4C13-8348-DF43657A62F8}" presName="iconBgRect" presStyleLbl="bgShp" presStyleIdx="2" presStyleCnt="3"/>
      <dgm:spPr/>
    </dgm:pt>
    <dgm:pt modelId="{97991AA8-72F4-439E-B560-2A4722D07811}" type="pres">
      <dgm:prSet presAssocID="{97FD1CED-DD56-4C13-8348-DF43657A62F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9419F566-B6F4-4AA3-96CD-7F9E28EB0863}" type="pres">
      <dgm:prSet presAssocID="{97FD1CED-DD56-4C13-8348-DF43657A62F8}" presName="spaceRect" presStyleCnt="0"/>
      <dgm:spPr/>
    </dgm:pt>
    <dgm:pt modelId="{C2B92CFF-4E22-41DC-A915-8CA8B2C7A81A}" type="pres">
      <dgm:prSet presAssocID="{97FD1CED-DD56-4C13-8348-DF43657A62F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E07310B-F775-4578-98C2-CA9ABDAE3668}" type="presOf" srcId="{4761182F-6458-4AEF-82E7-2F10BEB57048}" destId="{6C815748-4AAA-4A09-B15C-359816EBE736}" srcOrd="0" destOrd="0" presId="urn:microsoft.com/office/officeart/2018/2/layout/IconCircleList"/>
    <dgm:cxn modelId="{3141D418-E15F-4FC2-894F-71EF278EA7C4}" type="presOf" srcId="{E410DB93-04AA-42D6-BC77-40CAB01F4C74}" destId="{7A5D8F7C-0A56-4E8C-BA4A-41C58A822A1E}" srcOrd="0" destOrd="0" presId="urn:microsoft.com/office/officeart/2018/2/layout/IconCircleList"/>
    <dgm:cxn modelId="{FB2CF131-D639-47FF-ADB2-C8D59DEEAE06}" type="presOf" srcId="{20D51824-5E72-4979-83E1-AD045904ED71}" destId="{51D806BE-E5E4-4DD8-9226-5644F842515F}" srcOrd="0" destOrd="0" presId="urn:microsoft.com/office/officeart/2018/2/layout/IconCircleList"/>
    <dgm:cxn modelId="{A89F054F-56B1-42B1-B3DF-9D222B212E91}" type="presOf" srcId="{97FD1CED-DD56-4C13-8348-DF43657A62F8}" destId="{C2B92CFF-4E22-41DC-A915-8CA8B2C7A81A}" srcOrd="0" destOrd="0" presId="urn:microsoft.com/office/officeart/2018/2/layout/IconCircleList"/>
    <dgm:cxn modelId="{9E2E9C51-1A58-44CB-B9CF-C4B1864ED801}" type="presOf" srcId="{F7CC9EDE-4361-4A70-B86C-3C577144601E}" destId="{AC6C8A38-7F71-4B31-8C39-33C7028E17AE}" srcOrd="0" destOrd="0" presId="urn:microsoft.com/office/officeart/2018/2/layout/IconCircleList"/>
    <dgm:cxn modelId="{50E6BE73-6BE3-46B0-A989-7A66AE6D3E7C}" srcId="{E410DB93-04AA-42D6-BC77-40CAB01F4C74}" destId="{20D51824-5E72-4979-83E1-AD045904ED71}" srcOrd="1" destOrd="0" parTransId="{5630F315-6646-4BFD-8C48-1889F17913DB}" sibTransId="{F7CC9EDE-4361-4A70-B86C-3C577144601E}"/>
    <dgm:cxn modelId="{F9827776-0AFB-4A39-8C28-0BD70F71F7F0}" srcId="{E410DB93-04AA-42D6-BC77-40CAB01F4C74}" destId="{4761182F-6458-4AEF-82E7-2F10BEB57048}" srcOrd="0" destOrd="0" parTransId="{7C726A90-4947-42B9-8210-7C91DA17695E}" sibTransId="{D0851248-ECA3-4014-80C3-9ED8B9E019AD}"/>
    <dgm:cxn modelId="{0289498B-9E0A-4B43-AD52-9B0BAE28EDDE}" srcId="{E410DB93-04AA-42D6-BC77-40CAB01F4C74}" destId="{97FD1CED-DD56-4C13-8348-DF43657A62F8}" srcOrd="2" destOrd="0" parTransId="{630FC8F5-C5A1-4D11-8D74-E7797CFE3B17}" sibTransId="{752D6910-8E62-4A01-884B-CAFCFB97B424}"/>
    <dgm:cxn modelId="{E4E013C0-9F54-4275-9AF0-5A471BD96546}" type="presOf" srcId="{D0851248-ECA3-4014-80C3-9ED8B9E019AD}" destId="{13E05AF1-9C7E-476C-8562-DEA659A190DA}" srcOrd="0" destOrd="0" presId="urn:microsoft.com/office/officeart/2018/2/layout/IconCircleList"/>
    <dgm:cxn modelId="{CB9D81F8-F270-4F8C-B46D-FE5FAB835C2D}" type="presParOf" srcId="{7A5D8F7C-0A56-4E8C-BA4A-41C58A822A1E}" destId="{3177AFB4-DA5E-42FB-BF79-631BE74099BD}" srcOrd="0" destOrd="0" presId="urn:microsoft.com/office/officeart/2018/2/layout/IconCircleList"/>
    <dgm:cxn modelId="{E7B7855C-90A3-422A-82D9-46D01D526576}" type="presParOf" srcId="{3177AFB4-DA5E-42FB-BF79-631BE74099BD}" destId="{63480F78-D645-4680-93EA-24557A1A1C78}" srcOrd="0" destOrd="0" presId="urn:microsoft.com/office/officeart/2018/2/layout/IconCircleList"/>
    <dgm:cxn modelId="{99E3E1C8-2209-4136-BB35-2957A54F890C}" type="presParOf" srcId="{63480F78-D645-4680-93EA-24557A1A1C78}" destId="{DCDD3ED0-B694-4668-9300-633749216EDD}" srcOrd="0" destOrd="0" presId="urn:microsoft.com/office/officeart/2018/2/layout/IconCircleList"/>
    <dgm:cxn modelId="{109B7E3E-6E98-471B-8C88-4CF2909F1771}" type="presParOf" srcId="{63480F78-D645-4680-93EA-24557A1A1C78}" destId="{9186E12B-6141-4561-BC6B-2C807C2C7E46}" srcOrd="1" destOrd="0" presId="urn:microsoft.com/office/officeart/2018/2/layout/IconCircleList"/>
    <dgm:cxn modelId="{73441292-1D62-47DA-A64F-957082FF6B5A}" type="presParOf" srcId="{63480F78-D645-4680-93EA-24557A1A1C78}" destId="{946DED99-CFBD-465C-869F-D7F7437E8BE2}" srcOrd="2" destOrd="0" presId="urn:microsoft.com/office/officeart/2018/2/layout/IconCircleList"/>
    <dgm:cxn modelId="{12732D9B-BB7B-4FAD-AB9B-05F13EFB094C}" type="presParOf" srcId="{63480F78-D645-4680-93EA-24557A1A1C78}" destId="{6C815748-4AAA-4A09-B15C-359816EBE736}" srcOrd="3" destOrd="0" presId="urn:microsoft.com/office/officeart/2018/2/layout/IconCircleList"/>
    <dgm:cxn modelId="{07B7BC33-65F1-4E88-BBBA-4232334A0F2B}" type="presParOf" srcId="{3177AFB4-DA5E-42FB-BF79-631BE74099BD}" destId="{13E05AF1-9C7E-476C-8562-DEA659A190DA}" srcOrd="1" destOrd="0" presId="urn:microsoft.com/office/officeart/2018/2/layout/IconCircleList"/>
    <dgm:cxn modelId="{CA74FB47-DFD6-489D-9C52-D8937E9E5F76}" type="presParOf" srcId="{3177AFB4-DA5E-42FB-BF79-631BE74099BD}" destId="{28230D8F-10A6-4914-937C-05B0A7DF7D86}" srcOrd="2" destOrd="0" presId="urn:microsoft.com/office/officeart/2018/2/layout/IconCircleList"/>
    <dgm:cxn modelId="{D306E835-AE37-4B56-92C1-B2F403E39DC9}" type="presParOf" srcId="{28230D8F-10A6-4914-937C-05B0A7DF7D86}" destId="{7D037FBC-3208-40EA-8958-3CC6590D48CA}" srcOrd="0" destOrd="0" presId="urn:microsoft.com/office/officeart/2018/2/layout/IconCircleList"/>
    <dgm:cxn modelId="{ECFDB9B8-061A-4801-AE0F-805DBF8D0FC0}" type="presParOf" srcId="{28230D8F-10A6-4914-937C-05B0A7DF7D86}" destId="{B7C7FC58-BED7-49F7-B76E-40A51C8818E9}" srcOrd="1" destOrd="0" presId="urn:microsoft.com/office/officeart/2018/2/layout/IconCircleList"/>
    <dgm:cxn modelId="{4969B670-0C54-410B-AC7C-9078A03BD991}" type="presParOf" srcId="{28230D8F-10A6-4914-937C-05B0A7DF7D86}" destId="{736F9D30-1077-420D-9981-5C1246E11E4D}" srcOrd="2" destOrd="0" presId="urn:microsoft.com/office/officeart/2018/2/layout/IconCircleList"/>
    <dgm:cxn modelId="{D7B01E16-B724-4E62-AF9E-4EC72AD67117}" type="presParOf" srcId="{28230D8F-10A6-4914-937C-05B0A7DF7D86}" destId="{51D806BE-E5E4-4DD8-9226-5644F842515F}" srcOrd="3" destOrd="0" presId="urn:microsoft.com/office/officeart/2018/2/layout/IconCircleList"/>
    <dgm:cxn modelId="{8AF8C192-DD13-46F5-9EDC-2DA97006C09C}" type="presParOf" srcId="{3177AFB4-DA5E-42FB-BF79-631BE74099BD}" destId="{AC6C8A38-7F71-4B31-8C39-33C7028E17AE}" srcOrd="3" destOrd="0" presId="urn:microsoft.com/office/officeart/2018/2/layout/IconCircleList"/>
    <dgm:cxn modelId="{097FBB77-1E9C-45C6-B5BB-183E741C8DA5}" type="presParOf" srcId="{3177AFB4-DA5E-42FB-BF79-631BE74099BD}" destId="{2EF744EC-643A-480B-AB7C-B91F726B86F7}" srcOrd="4" destOrd="0" presId="urn:microsoft.com/office/officeart/2018/2/layout/IconCircleList"/>
    <dgm:cxn modelId="{7E9E0C07-5F52-4A3F-843D-DB64FF4775E7}" type="presParOf" srcId="{2EF744EC-643A-480B-AB7C-B91F726B86F7}" destId="{C7C3C986-BE78-4C78-A1F0-27216E88EE2F}" srcOrd="0" destOrd="0" presId="urn:microsoft.com/office/officeart/2018/2/layout/IconCircleList"/>
    <dgm:cxn modelId="{4E93D6D0-FB07-4154-9947-EA05DCAF2D37}" type="presParOf" srcId="{2EF744EC-643A-480B-AB7C-B91F726B86F7}" destId="{97991AA8-72F4-439E-B560-2A4722D07811}" srcOrd="1" destOrd="0" presId="urn:microsoft.com/office/officeart/2018/2/layout/IconCircleList"/>
    <dgm:cxn modelId="{C7A69467-830F-4801-926A-4564E2FC9017}" type="presParOf" srcId="{2EF744EC-643A-480B-AB7C-B91F726B86F7}" destId="{9419F566-B6F4-4AA3-96CD-7F9E28EB0863}" srcOrd="2" destOrd="0" presId="urn:microsoft.com/office/officeart/2018/2/layout/IconCircleList"/>
    <dgm:cxn modelId="{F81EFB8B-2B05-40EC-BE79-72021810FE1F}" type="presParOf" srcId="{2EF744EC-643A-480B-AB7C-B91F726B86F7}" destId="{C2B92CFF-4E22-41DC-A915-8CA8B2C7A81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A26258-C501-4D06-ADCA-A93D2FE70D78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4" csCatId="accent1"/>
      <dgm:spPr/>
      <dgm:t>
        <a:bodyPr/>
        <a:lstStyle/>
        <a:p>
          <a:endParaRPr lang="en-US"/>
        </a:p>
      </dgm:t>
    </dgm:pt>
    <dgm:pt modelId="{52712493-D091-4BC9-9830-08CAC9C44562}">
      <dgm:prSet/>
      <dgm:spPr/>
      <dgm:t>
        <a:bodyPr/>
        <a:lstStyle/>
        <a:p>
          <a:r>
            <a:rPr lang="en-US" dirty="0"/>
            <a:t>Well-being influences political judgment.</a:t>
          </a:r>
        </a:p>
      </dgm:t>
    </dgm:pt>
    <dgm:pt modelId="{57B53B7D-2552-410B-A522-9EB2B221F072}" type="parTrans" cxnId="{D4AE6F1F-4189-46D4-8632-8982E34E1391}">
      <dgm:prSet/>
      <dgm:spPr/>
      <dgm:t>
        <a:bodyPr/>
        <a:lstStyle/>
        <a:p>
          <a:endParaRPr lang="en-US"/>
        </a:p>
      </dgm:t>
    </dgm:pt>
    <dgm:pt modelId="{5BADCCCD-F942-4200-A114-B1A5027F1BAB}" type="sibTrans" cxnId="{D4AE6F1F-4189-46D4-8632-8982E34E1391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D0E3B770-6C1E-4A95-9726-3EB9D6773403}">
      <dgm:prSet/>
      <dgm:spPr/>
      <dgm:t>
        <a:bodyPr/>
        <a:lstStyle/>
        <a:p>
          <a:r>
            <a:rPr lang="en-US"/>
            <a:t>Economic hardship can reduce satisfaction.</a:t>
          </a:r>
        </a:p>
      </dgm:t>
    </dgm:pt>
    <dgm:pt modelId="{41AF74BD-5E3A-4EBE-BD77-8F90DA2140B4}" type="parTrans" cxnId="{E1F7AC10-640E-498E-B966-B8951DDEEE6C}">
      <dgm:prSet/>
      <dgm:spPr/>
      <dgm:t>
        <a:bodyPr/>
        <a:lstStyle/>
        <a:p>
          <a:endParaRPr lang="en-US"/>
        </a:p>
      </dgm:t>
    </dgm:pt>
    <dgm:pt modelId="{BA877146-6679-4E7B-BC80-6D629CFB6BB7}" type="sibTrans" cxnId="{E1F7AC10-640E-498E-B966-B8951DDEEE6C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1D93CF4B-DA82-4BBC-8E5F-3612CA69D7DF}">
      <dgm:prSet/>
      <dgm:spPr/>
      <dgm:t>
        <a:bodyPr/>
        <a:lstStyle/>
        <a:p>
          <a:r>
            <a:rPr lang="en-US"/>
            <a:t>Corruption weakens institutional confidence.</a:t>
          </a:r>
        </a:p>
      </dgm:t>
    </dgm:pt>
    <dgm:pt modelId="{C1601B62-DAF5-4824-BA5C-7B45F579D2A1}" type="parTrans" cxnId="{794E68FD-1D27-45D3-9C3F-5C94EE8C84EF}">
      <dgm:prSet/>
      <dgm:spPr/>
      <dgm:t>
        <a:bodyPr/>
        <a:lstStyle/>
        <a:p>
          <a:endParaRPr lang="en-US"/>
        </a:p>
      </dgm:t>
    </dgm:pt>
    <dgm:pt modelId="{6AFEF2CE-F014-4BEC-B17D-4C8E09467013}" type="sibTrans" cxnId="{794E68FD-1D27-45D3-9C3F-5C94EE8C84EF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AD4A3070-8C70-40DC-A5C4-B5EE66411229}">
      <dgm:prSet/>
      <dgm:spPr/>
      <dgm:t>
        <a:bodyPr/>
        <a:lstStyle/>
        <a:p>
          <a:r>
            <a:rPr lang="en-US"/>
            <a:t>Transparency may strengthen trust and legitimacy.</a:t>
          </a:r>
        </a:p>
      </dgm:t>
    </dgm:pt>
    <dgm:pt modelId="{196F0168-5E38-4D07-956A-24FD92B23C9F}" type="parTrans" cxnId="{15AB1916-A277-469D-A95B-5EF1E8716C12}">
      <dgm:prSet/>
      <dgm:spPr/>
      <dgm:t>
        <a:bodyPr/>
        <a:lstStyle/>
        <a:p>
          <a:endParaRPr lang="en-US"/>
        </a:p>
      </dgm:t>
    </dgm:pt>
    <dgm:pt modelId="{EFB8647A-72AD-44D3-83F4-51462E34887F}" type="sibTrans" cxnId="{15AB1916-A277-469D-A95B-5EF1E8716C12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EF788F72-242D-43F2-A8C9-7704AC95FC4D}" type="pres">
      <dgm:prSet presAssocID="{04A26258-C501-4D06-ADCA-A93D2FE70D78}" presName="Name0" presStyleCnt="0">
        <dgm:presLayoutVars>
          <dgm:animLvl val="lvl"/>
          <dgm:resizeHandles val="exact"/>
        </dgm:presLayoutVars>
      </dgm:prSet>
      <dgm:spPr/>
    </dgm:pt>
    <dgm:pt modelId="{B274C3A3-FEBE-4C9F-89CD-A91A98D9992C}" type="pres">
      <dgm:prSet presAssocID="{52712493-D091-4BC9-9830-08CAC9C44562}" presName="compositeNode" presStyleCnt="0">
        <dgm:presLayoutVars>
          <dgm:bulletEnabled val="1"/>
        </dgm:presLayoutVars>
      </dgm:prSet>
      <dgm:spPr/>
    </dgm:pt>
    <dgm:pt modelId="{C329CCC2-6EF2-454A-8882-6CC71E25000C}" type="pres">
      <dgm:prSet presAssocID="{52712493-D091-4BC9-9830-08CAC9C44562}" presName="bgRect" presStyleLbl="alignNode1" presStyleIdx="0" presStyleCnt="4"/>
      <dgm:spPr/>
    </dgm:pt>
    <dgm:pt modelId="{287D2FA9-6E9D-43B8-AAAB-513A101AB93E}" type="pres">
      <dgm:prSet presAssocID="{5BADCCCD-F942-4200-A114-B1A5027F1BAB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D4120D94-67B8-4D93-91D7-AFF7815A2FE0}" type="pres">
      <dgm:prSet presAssocID="{52712493-D091-4BC9-9830-08CAC9C44562}" presName="nodeRect" presStyleLbl="alignNode1" presStyleIdx="0" presStyleCnt="4">
        <dgm:presLayoutVars>
          <dgm:bulletEnabled val="1"/>
        </dgm:presLayoutVars>
      </dgm:prSet>
      <dgm:spPr/>
    </dgm:pt>
    <dgm:pt modelId="{069B4796-ABDE-41D0-8DDE-C8793CF1DC7A}" type="pres">
      <dgm:prSet presAssocID="{5BADCCCD-F942-4200-A114-B1A5027F1BAB}" presName="sibTrans" presStyleCnt="0"/>
      <dgm:spPr/>
    </dgm:pt>
    <dgm:pt modelId="{1D1BCBAB-F4A2-4EDA-939A-0E6BD0C9F5CC}" type="pres">
      <dgm:prSet presAssocID="{D0E3B770-6C1E-4A95-9726-3EB9D6773403}" presName="compositeNode" presStyleCnt="0">
        <dgm:presLayoutVars>
          <dgm:bulletEnabled val="1"/>
        </dgm:presLayoutVars>
      </dgm:prSet>
      <dgm:spPr/>
    </dgm:pt>
    <dgm:pt modelId="{55C86A5D-5B7C-4700-B920-4F8C7DEB9654}" type="pres">
      <dgm:prSet presAssocID="{D0E3B770-6C1E-4A95-9726-3EB9D6773403}" presName="bgRect" presStyleLbl="alignNode1" presStyleIdx="1" presStyleCnt="4"/>
      <dgm:spPr/>
    </dgm:pt>
    <dgm:pt modelId="{D61DFE64-3702-4397-8A4F-D9E9BDF0684D}" type="pres">
      <dgm:prSet presAssocID="{BA877146-6679-4E7B-BC80-6D629CFB6BB7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E4967B84-14AF-41E5-967B-659A4CF485CD}" type="pres">
      <dgm:prSet presAssocID="{D0E3B770-6C1E-4A95-9726-3EB9D6773403}" presName="nodeRect" presStyleLbl="alignNode1" presStyleIdx="1" presStyleCnt="4">
        <dgm:presLayoutVars>
          <dgm:bulletEnabled val="1"/>
        </dgm:presLayoutVars>
      </dgm:prSet>
      <dgm:spPr/>
    </dgm:pt>
    <dgm:pt modelId="{EBE8F118-9755-4DC9-841A-D24F23ADF494}" type="pres">
      <dgm:prSet presAssocID="{BA877146-6679-4E7B-BC80-6D629CFB6BB7}" presName="sibTrans" presStyleCnt="0"/>
      <dgm:spPr/>
    </dgm:pt>
    <dgm:pt modelId="{734900D3-5315-4C81-817A-63D0A0921CF2}" type="pres">
      <dgm:prSet presAssocID="{1D93CF4B-DA82-4BBC-8E5F-3612CA69D7DF}" presName="compositeNode" presStyleCnt="0">
        <dgm:presLayoutVars>
          <dgm:bulletEnabled val="1"/>
        </dgm:presLayoutVars>
      </dgm:prSet>
      <dgm:spPr/>
    </dgm:pt>
    <dgm:pt modelId="{CCC94DD2-63D5-41E9-9698-DD4EEC69B491}" type="pres">
      <dgm:prSet presAssocID="{1D93CF4B-DA82-4BBC-8E5F-3612CA69D7DF}" presName="bgRect" presStyleLbl="alignNode1" presStyleIdx="2" presStyleCnt="4"/>
      <dgm:spPr/>
    </dgm:pt>
    <dgm:pt modelId="{04525B64-E52E-41B5-9B32-7098CF8E6E57}" type="pres">
      <dgm:prSet presAssocID="{6AFEF2CE-F014-4BEC-B17D-4C8E09467013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4AD459E0-66C7-456D-8332-EB8E32073127}" type="pres">
      <dgm:prSet presAssocID="{1D93CF4B-DA82-4BBC-8E5F-3612CA69D7DF}" presName="nodeRect" presStyleLbl="alignNode1" presStyleIdx="2" presStyleCnt="4">
        <dgm:presLayoutVars>
          <dgm:bulletEnabled val="1"/>
        </dgm:presLayoutVars>
      </dgm:prSet>
      <dgm:spPr/>
    </dgm:pt>
    <dgm:pt modelId="{F0E597C1-DD80-4507-9A0D-A5A42CF38A02}" type="pres">
      <dgm:prSet presAssocID="{6AFEF2CE-F014-4BEC-B17D-4C8E09467013}" presName="sibTrans" presStyleCnt="0"/>
      <dgm:spPr/>
    </dgm:pt>
    <dgm:pt modelId="{D81F1FB1-6A4A-4CA1-9DEE-7A44BF8942BB}" type="pres">
      <dgm:prSet presAssocID="{AD4A3070-8C70-40DC-A5C4-B5EE66411229}" presName="compositeNode" presStyleCnt="0">
        <dgm:presLayoutVars>
          <dgm:bulletEnabled val="1"/>
        </dgm:presLayoutVars>
      </dgm:prSet>
      <dgm:spPr/>
    </dgm:pt>
    <dgm:pt modelId="{5599D017-C22C-402D-969A-4F94160203D3}" type="pres">
      <dgm:prSet presAssocID="{AD4A3070-8C70-40DC-A5C4-B5EE66411229}" presName="bgRect" presStyleLbl="alignNode1" presStyleIdx="3" presStyleCnt="4"/>
      <dgm:spPr/>
    </dgm:pt>
    <dgm:pt modelId="{6C64225F-B2E9-46D3-A1C1-DEF1F24019F0}" type="pres">
      <dgm:prSet presAssocID="{EFB8647A-72AD-44D3-83F4-51462E34887F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BDC890DD-9B89-4F48-AFD4-9B5FDC81C133}" type="pres">
      <dgm:prSet presAssocID="{AD4A3070-8C70-40DC-A5C4-B5EE66411229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56B87006-0682-442D-9F1E-B24605F8A1B9}" type="presOf" srcId="{5BADCCCD-F942-4200-A114-B1A5027F1BAB}" destId="{287D2FA9-6E9D-43B8-AAAB-513A101AB93E}" srcOrd="0" destOrd="0" presId="urn:microsoft.com/office/officeart/2016/7/layout/LinearBlockProcessNumbered"/>
    <dgm:cxn modelId="{E1F7AC10-640E-498E-B966-B8951DDEEE6C}" srcId="{04A26258-C501-4D06-ADCA-A93D2FE70D78}" destId="{D0E3B770-6C1E-4A95-9726-3EB9D6773403}" srcOrd="1" destOrd="0" parTransId="{41AF74BD-5E3A-4EBE-BD77-8F90DA2140B4}" sibTransId="{BA877146-6679-4E7B-BC80-6D629CFB6BB7}"/>
    <dgm:cxn modelId="{15AB1916-A277-469D-A95B-5EF1E8716C12}" srcId="{04A26258-C501-4D06-ADCA-A93D2FE70D78}" destId="{AD4A3070-8C70-40DC-A5C4-B5EE66411229}" srcOrd="3" destOrd="0" parTransId="{196F0168-5E38-4D07-956A-24FD92B23C9F}" sibTransId="{EFB8647A-72AD-44D3-83F4-51462E34887F}"/>
    <dgm:cxn modelId="{D4AE6F1F-4189-46D4-8632-8982E34E1391}" srcId="{04A26258-C501-4D06-ADCA-A93D2FE70D78}" destId="{52712493-D091-4BC9-9830-08CAC9C44562}" srcOrd="0" destOrd="0" parTransId="{57B53B7D-2552-410B-A522-9EB2B221F072}" sibTransId="{5BADCCCD-F942-4200-A114-B1A5027F1BAB}"/>
    <dgm:cxn modelId="{496C7A6A-8D67-4DC2-9F3D-BBAC85665B12}" type="presOf" srcId="{04A26258-C501-4D06-ADCA-A93D2FE70D78}" destId="{EF788F72-242D-43F2-A8C9-7704AC95FC4D}" srcOrd="0" destOrd="0" presId="urn:microsoft.com/office/officeart/2016/7/layout/LinearBlockProcessNumbered"/>
    <dgm:cxn modelId="{CAF5AE6D-1C52-4437-B714-9F6B971F470B}" type="presOf" srcId="{1D93CF4B-DA82-4BBC-8E5F-3612CA69D7DF}" destId="{CCC94DD2-63D5-41E9-9698-DD4EEC69B491}" srcOrd="0" destOrd="0" presId="urn:microsoft.com/office/officeart/2016/7/layout/LinearBlockProcessNumbered"/>
    <dgm:cxn modelId="{0B216D71-EBAA-417B-8D84-E4E1949E2709}" type="presOf" srcId="{1D93CF4B-DA82-4BBC-8E5F-3612CA69D7DF}" destId="{4AD459E0-66C7-456D-8332-EB8E32073127}" srcOrd="1" destOrd="0" presId="urn:microsoft.com/office/officeart/2016/7/layout/LinearBlockProcessNumbered"/>
    <dgm:cxn modelId="{549E4356-2D8D-4D6B-93A4-5DB5B58269BB}" type="presOf" srcId="{D0E3B770-6C1E-4A95-9726-3EB9D6773403}" destId="{55C86A5D-5B7C-4700-B920-4F8C7DEB9654}" srcOrd="0" destOrd="0" presId="urn:microsoft.com/office/officeart/2016/7/layout/LinearBlockProcessNumbered"/>
    <dgm:cxn modelId="{BF966478-FD1E-4913-B0AE-9085F72D7260}" type="presOf" srcId="{AD4A3070-8C70-40DC-A5C4-B5EE66411229}" destId="{5599D017-C22C-402D-969A-4F94160203D3}" srcOrd="0" destOrd="0" presId="urn:microsoft.com/office/officeart/2016/7/layout/LinearBlockProcessNumbered"/>
    <dgm:cxn modelId="{2CF05E79-8196-4A07-8806-7188331A2C58}" type="presOf" srcId="{52712493-D091-4BC9-9830-08CAC9C44562}" destId="{D4120D94-67B8-4D93-91D7-AFF7815A2FE0}" srcOrd="1" destOrd="0" presId="urn:microsoft.com/office/officeart/2016/7/layout/LinearBlockProcessNumbered"/>
    <dgm:cxn modelId="{9879B594-4B59-44EA-ADE2-39FF498ABEA6}" type="presOf" srcId="{BA877146-6679-4E7B-BC80-6D629CFB6BB7}" destId="{D61DFE64-3702-4397-8A4F-D9E9BDF0684D}" srcOrd="0" destOrd="0" presId="urn:microsoft.com/office/officeart/2016/7/layout/LinearBlockProcessNumbered"/>
    <dgm:cxn modelId="{EF2AE296-B101-47F8-8E8F-FCFA7ED40DF2}" type="presOf" srcId="{AD4A3070-8C70-40DC-A5C4-B5EE66411229}" destId="{BDC890DD-9B89-4F48-AFD4-9B5FDC81C133}" srcOrd="1" destOrd="0" presId="urn:microsoft.com/office/officeart/2016/7/layout/LinearBlockProcessNumbered"/>
    <dgm:cxn modelId="{AE3AE0BB-2EC5-4443-BC8B-7F41185D880F}" type="presOf" srcId="{D0E3B770-6C1E-4A95-9726-3EB9D6773403}" destId="{E4967B84-14AF-41E5-967B-659A4CF485CD}" srcOrd="1" destOrd="0" presId="urn:microsoft.com/office/officeart/2016/7/layout/LinearBlockProcessNumbered"/>
    <dgm:cxn modelId="{2738F1BE-5656-4F25-872D-46774C00420D}" type="presOf" srcId="{6AFEF2CE-F014-4BEC-B17D-4C8E09467013}" destId="{04525B64-E52E-41B5-9B32-7098CF8E6E57}" srcOrd="0" destOrd="0" presId="urn:microsoft.com/office/officeart/2016/7/layout/LinearBlockProcessNumbered"/>
    <dgm:cxn modelId="{5D33DAD6-FE39-4544-B39F-758E29E984F4}" type="presOf" srcId="{52712493-D091-4BC9-9830-08CAC9C44562}" destId="{C329CCC2-6EF2-454A-8882-6CC71E25000C}" srcOrd="0" destOrd="0" presId="urn:microsoft.com/office/officeart/2016/7/layout/LinearBlockProcessNumbered"/>
    <dgm:cxn modelId="{794E68FD-1D27-45D3-9C3F-5C94EE8C84EF}" srcId="{04A26258-C501-4D06-ADCA-A93D2FE70D78}" destId="{1D93CF4B-DA82-4BBC-8E5F-3612CA69D7DF}" srcOrd="2" destOrd="0" parTransId="{C1601B62-DAF5-4824-BA5C-7B45F579D2A1}" sibTransId="{6AFEF2CE-F014-4BEC-B17D-4C8E09467013}"/>
    <dgm:cxn modelId="{CBFAEAFE-17C3-4E2B-9188-631A183652DD}" type="presOf" srcId="{EFB8647A-72AD-44D3-83F4-51462E34887F}" destId="{6C64225F-B2E9-46D3-A1C1-DEF1F24019F0}" srcOrd="0" destOrd="0" presId="urn:microsoft.com/office/officeart/2016/7/layout/LinearBlockProcessNumbered"/>
    <dgm:cxn modelId="{0A6DF5B3-0330-4ECB-B456-1D21A2CD70F2}" type="presParOf" srcId="{EF788F72-242D-43F2-A8C9-7704AC95FC4D}" destId="{B274C3A3-FEBE-4C9F-89CD-A91A98D9992C}" srcOrd="0" destOrd="0" presId="urn:microsoft.com/office/officeart/2016/7/layout/LinearBlockProcessNumbered"/>
    <dgm:cxn modelId="{80F42C25-E142-4C21-9775-87B9E5FCBD66}" type="presParOf" srcId="{B274C3A3-FEBE-4C9F-89CD-A91A98D9992C}" destId="{C329CCC2-6EF2-454A-8882-6CC71E25000C}" srcOrd="0" destOrd="0" presId="urn:microsoft.com/office/officeart/2016/7/layout/LinearBlockProcessNumbered"/>
    <dgm:cxn modelId="{7177F1A8-CBE9-4EA7-8E37-C818824C5764}" type="presParOf" srcId="{B274C3A3-FEBE-4C9F-89CD-A91A98D9992C}" destId="{287D2FA9-6E9D-43B8-AAAB-513A101AB93E}" srcOrd="1" destOrd="0" presId="urn:microsoft.com/office/officeart/2016/7/layout/LinearBlockProcessNumbered"/>
    <dgm:cxn modelId="{27773481-CBA0-408D-BF2A-63EA4AEB9599}" type="presParOf" srcId="{B274C3A3-FEBE-4C9F-89CD-A91A98D9992C}" destId="{D4120D94-67B8-4D93-91D7-AFF7815A2FE0}" srcOrd="2" destOrd="0" presId="urn:microsoft.com/office/officeart/2016/7/layout/LinearBlockProcessNumbered"/>
    <dgm:cxn modelId="{8D1F07CE-CF25-4325-985C-C1A00050B6FC}" type="presParOf" srcId="{EF788F72-242D-43F2-A8C9-7704AC95FC4D}" destId="{069B4796-ABDE-41D0-8DDE-C8793CF1DC7A}" srcOrd="1" destOrd="0" presId="urn:microsoft.com/office/officeart/2016/7/layout/LinearBlockProcessNumbered"/>
    <dgm:cxn modelId="{99DC4AC0-FEAF-4B98-AE3C-465830EAFB70}" type="presParOf" srcId="{EF788F72-242D-43F2-A8C9-7704AC95FC4D}" destId="{1D1BCBAB-F4A2-4EDA-939A-0E6BD0C9F5CC}" srcOrd="2" destOrd="0" presId="urn:microsoft.com/office/officeart/2016/7/layout/LinearBlockProcessNumbered"/>
    <dgm:cxn modelId="{FEB9533A-87D0-460C-A0C8-272800495E82}" type="presParOf" srcId="{1D1BCBAB-F4A2-4EDA-939A-0E6BD0C9F5CC}" destId="{55C86A5D-5B7C-4700-B920-4F8C7DEB9654}" srcOrd="0" destOrd="0" presId="urn:microsoft.com/office/officeart/2016/7/layout/LinearBlockProcessNumbered"/>
    <dgm:cxn modelId="{7F744868-E530-4844-BC9A-3F253AAEDD77}" type="presParOf" srcId="{1D1BCBAB-F4A2-4EDA-939A-0E6BD0C9F5CC}" destId="{D61DFE64-3702-4397-8A4F-D9E9BDF0684D}" srcOrd="1" destOrd="0" presId="urn:microsoft.com/office/officeart/2016/7/layout/LinearBlockProcessNumbered"/>
    <dgm:cxn modelId="{7FC71E95-16BC-4F06-AB51-C876CD04425C}" type="presParOf" srcId="{1D1BCBAB-F4A2-4EDA-939A-0E6BD0C9F5CC}" destId="{E4967B84-14AF-41E5-967B-659A4CF485CD}" srcOrd="2" destOrd="0" presId="urn:microsoft.com/office/officeart/2016/7/layout/LinearBlockProcessNumbered"/>
    <dgm:cxn modelId="{B5DDD847-C177-4018-81CB-ACA4A9238C1B}" type="presParOf" srcId="{EF788F72-242D-43F2-A8C9-7704AC95FC4D}" destId="{EBE8F118-9755-4DC9-841A-D24F23ADF494}" srcOrd="3" destOrd="0" presId="urn:microsoft.com/office/officeart/2016/7/layout/LinearBlockProcessNumbered"/>
    <dgm:cxn modelId="{3974DFA9-65B4-4971-BED0-5CB0B6671E62}" type="presParOf" srcId="{EF788F72-242D-43F2-A8C9-7704AC95FC4D}" destId="{734900D3-5315-4C81-817A-63D0A0921CF2}" srcOrd="4" destOrd="0" presId="urn:microsoft.com/office/officeart/2016/7/layout/LinearBlockProcessNumbered"/>
    <dgm:cxn modelId="{510A4BC5-08CC-40DA-BCA8-3E675B109D96}" type="presParOf" srcId="{734900D3-5315-4C81-817A-63D0A0921CF2}" destId="{CCC94DD2-63D5-41E9-9698-DD4EEC69B491}" srcOrd="0" destOrd="0" presId="urn:microsoft.com/office/officeart/2016/7/layout/LinearBlockProcessNumbered"/>
    <dgm:cxn modelId="{8F284E9F-C7B9-463D-B94A-B6B996CAF651}" type="presParOf" srcId="{734900D3-5315-4C81-817A-63D0A0921CF2}" destId="{04525B64-E52E-41B5-9B32-7098CF8E6E57}" srcOrd="1" destOrd="0" presId="urn:microsoft.com/office/officeart/2016/7/layout/LinearBlockProcessNumbered"/>
    <dgm:cxn modelId="{DD458544-B764-4907-B707-DB1F6A453C00}" type="presParOf" srcId="{734900D3-5315-4C81-817A-63D0A0921CF2}" destId="{4AD459E0-66C7-456D-8332-EB8E32073127}" srcOrd="2" destOrd="0" presId="urn:microsoft.com/office/officeart/2016/7/layout/LinearBlockProcessNumbered"/>
    <dgm:cxn modelId="{346FD5A9-13D3-48C1-9DF9-E3E3C27F4F38}" type="presParOf" srcId="{EF788F72-242D-43F2-A8C9-7704AC95FC4D}" destId="{F0E597C1-DD80-4507-9A0D-A5A42CF38A02}" srcOrd="5" destOrd="0" presId="urn:microsoft.com/office/officeart/2016/7/layout/LinearBlockProcessNumbered"/>
    <dgm:cxn modelId="{C8FE8D0F-A1C5-4382-B878-073A553F5DC5}" type="presParOf" srcId="{EF788F72-242D-43F2-A8C9-7704AC95FC4D}" destId="{D81F1FB1-6A4A-4CA1-9DEE-7A44BF8942BB}" srcOrd="6" destOrd="0" presId="urn:microsoft.com/office/officeart/2016/7/layout/LinearBlockProcessNumbered"/>
    <dgm:cxn modelId="{4E2ED8F7-A57E-44DF-9531-60B30CD671CA}" type="presParOf" srcId="{D81F1FB1-6A4A-4CA1-9DEE-7A44BF8942BB}" destId="{5599D017-C22C-402D-969A-4F94160203D3}" srcOrd="0" destOrd="0" presId="urn:microsoft.com/office/officeart/2016/7/layout/LinearBlockProcessNumbered"/>
    <dgm:cxn modelId="{F2A5F66F-10E7-411C-9CAC-7FC456069922}" type="presParOf" srcId="{D81F1FB1-6A4A-4CA1-9DEE-7A44BF8942BB}" destId="{6C64225F-B2E9-46D3-A1C1-DEF1F24019F0}" srcOrd="1" destOrd="0" presId="urn:microsoft.com/office/officeart/2016/7/layout/LinearBlockProcessNumbered"/>
    <dgm:cxn modelId="{EED8E07D-6723-41B2-B8CA-E0B102D58183}" type="presParOf" srcId="{D81F1FB1-6A4A-4CA1-9DEE-7A44BF8942BB}" destId="{BDC890DD-9B89-4F48-AFD4-9B5FDC81C133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DD3ED0-B694-4668-9300-633749216EDD}">
      <dsp:nvSpPr>
        <dsp:cNvPr id="0" name=""/>
        <dsp:cNvSpPr/>
      </dsp:nvSpPr>
      <dsp:spPr>
        <a:xfrm>
          <a:off x="600907" y="562537"/>
          <a:ext cx="736766" cy="73676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86E12B-6141-4561-BC6B-2C807C2C7E46}">
      <dsp:nvSpPr>
        <dsp:cNvPr id="0" name=""/>
        <dsp:cNvSpPr/>
      </dsp:nvSpPr>
      <dsp:spPr>
        <a:xfrm>
          <a:off x="755628" y="717258"/>
          <a:ext cx="427324" cy="4273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815748-4AAA-4A09-B15C-359816EBE736}">
      <dsp:nvSpPr>
        <dsp:cNvPr id="0" name=""/>
        <dsp:cNvSpPr/>
      </dsp:nvSpPr>
      <dsp:spPr>
        <a:xfrm>
          <a:off x="1495553" y="562537"/>
          <a:ext cx="1736663" cy="7367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Political satisfaction is not explained by regime labels alone.</a:t>
          </a:r>
          <a:endParaRPr lang="en-US" sz="1400" kern="1200" dirty="0"/>
        </a:p>
      </dsp:txBody>
      <dsp:txXfrm>
        <a:off x="1495553" y="562537"/>
        <a:ext cx="1736663" cy="736766"/>
      </dsp:txXfrm>
    </dsp:sp>
    <dsp:sp modelId="{7D037FBC-3208-40EA-8958-3CC6590D48CA}">
      <dsp:nvSpPr>
        <dsp:cNvPr id="0" name=""/>
        <dsp:cNvSpPr/>
      </dsp:nvSpPr>
      <dsp:spPr>
        <a:xfrm>
          <a:off x="3534817" y="562537"/>
          <a:ext cx="736766" cy="73676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C7FC58-BED7-49F7-B76E-40A51C8818E9}">
      <dsp:nvSpPr>
        <dsp:cNvPr id="0" name=""/>
        <dsp:cNvSpPr/>
      </dsp:nvSpPr>
      <dsp:spPr>
        <a:xfrm>
          <a:off x="3689538" y="717258"/>
          <a:ext cx="427324" cy="4273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D806BE-E5E4-4DD8-9226-5644F842515F}">
      <dsp:nvSpPr>
        <dsp:cNvPr id="0" name=""/>
        <dsp:cNvSpPr/>
      </dsp:nvSpPr>
      <dsp:spPr>
        <a:xfrm>
          <a:off x="4429462" y="562537"/>
          <a:ext cx="1736663" cy="7367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Citizens also respond to performance, trust, and transparency.</a:t>
          </a:r>
          <a:endParaRPr lang="en-US" sz="1400" kern="1200" dirty="0"/>
        </a:p>
      </dsp:txBody>
      <dsp:txXfrm>
        <a:off x="4429462" y="562537"/>
        <a:ext cx="1736663" cy="736766"/>
      </dsp:txXfrm>
    </dsp:sp>
    <dsp:sp modelId="{C7C3C986-BE78-4C78-A1F0-27216E88EE2F}">
      <dsp:nvSpPr>
        <dsp:cNvPr id="0" name=""/>
        <dsp:cNvSpPr/>
      </dsp:nvSpPr>
      <dsp:spPr>
        <a:xfrm>
          <a:off x="6468727" y="562537"/>
          <a:ext cx="736766" cy="73676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991AA8-72F4-439E-B560-2A4722D07811}">
      <dsp:nvSpPr>
        <dsp:cNvPr id="0" name=""/>
        <dsp:cNvSpPr/>
      </dsp:nvSpPr>
      <dsp:spPr>
        <a:xfrm>
          <a:off x="6623448" y="717258"/>
          <a:ext cx="427324" cy="4273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B92CFF-4E22-41DC-A915-8CA8B2C7A81A}">
      <dsp:nvSpPr>
        <dsp:cNvPr id="0" name=""/>
        <dsp:cNvSpPr/>
      </dsp:nvSpPr>
      <dsp:spPr>
        <a:xfrm>
          <a:off x="7363372" y="562537"/>
          <a:ext cx="1736663" cy="7367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Regime context may change the strength of these effects.</a:t>
          </a:r>
          <a:endParaRPr lang="en-US" sz="1400" kern="1200" dirty="0"/>
        </a:p>
      </dsp:txBody>
      <dsp:txXfrm>
        <a:off x="7363372" y="562537"/>
        <a:ext cx="1736663" cy="7367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29CCC2-6EF2-454A-8882-6CC71E25000C}">
      <dsp:nvSpPr>
        <dsp:cNvPr id="0" name=""/>
        <dsp:cNvSpPr/>
      </dsp:nvSpPr>
      <dsp:spPr>
        <a:xfrm>
          <a:off x="205" y="0"/>
          <a:ext cx="2479997" cy="2638496"/>
        </a:xfrm>
        <a:prstGeom prst="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Well-being influences political judgment.</a:t>
          </a:r>
        </a:p>
      </dsp:txBody>
      <dsp:txXfrm>
        <a:off x="205" y="1055398"/>
        <a:ext cx="2479997" cy="1583097"/>
      </dsp:txXfrm>
    </dsp:sp>
    <dsp:sp modelId="{287D2FA9-6E9D-43B8-AAAB-513A101AB93E}">
      <dsp:nvSpPr>
        <dsp:cNvPr id="0" name=""/>
        <dsp:cNvSpPr/>
      </dsp:nvSpPr>
      <dsp:spPr>
        <a:xfrm>
          <a:off x="205" y="0"/>
          <a:ext cx="2479997" cy="1055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01</a:t>
          </a:r>
        </a:p>
      </dsp:txBody>
      <dsp:txXfrm>
        <a:off x="205" y="0"/>
        <a:ext cx="2479997" cy="1055398"/>
      </dsp:txXfrm>
    </dsp:sp>
    <dsp:sp modelId="{55C86A5D-5B7C-4700-B920-4F8C7DEB9654}">
      <dsp:nvSpPr>
        <dsp:cNvPr id="0" name=""/>
        <dsp:cNvSpPr/>
      </dsp:nvSpPr>
      <dsp:spPr>
        <a:xfrm>
          <a:off x="2678602" y="0"/>
          <a:ext cx="2479997" cy="2638496"/>
        </a:xfrm>
        <a:prstGeom prst="rect">
          <a:avLst/>
        </a:prstGeom>
        <a:solidFill>
          <a:schemeClr val="accent1">
            <a:shade val="50000"/>
            <a:hueOff val="294825"/>
            <a:satOff val="-30989"/>
            <a:lumOff val="26741"/>
            <a:alphaOff val="0"/>
          </a:schemeClr>
        </a:solidFill>
        <a:ln w="19050" cap="flat" cmpd="sng" algn="ctr">
          <a:solidFill>
            <a:schemeClr val="accent1">
              <a:shade val="50000"/>
              <a:hueOff val="294825"/>
              <a:satOff val="-30989"/>
              <a:lumOff val="267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Economic hardship can reduce satisfaction.</a:t>
          </a:r>
        </a:p>
      </dsp:txBody>
      <dsp:txXfrm>
        <a:off x="2678602" y="1055398"/>
        <a:ext cx="2479997" cy="1583097"/>
      </dsp:txXfrm>
    </dsp:sp>
    <dsp:sp modelId="{D61DFE64-3702-4397-8A4F-D9E9BDF0684D}">
      <dsp:nvSpPr>
        <dsp:cNvPr id="0" name=""/>
        <dsp:cNvSpPr/>
      </dsp:nvSpPr>
      <dsp:spPr>
        <a:xfrm>
          <a:off x="2678602" y="0"/>
          <a:ext cx="2479997" cy="1055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02</a:t>
          </a:r>
        </a:p>
      </dsp:txBody>
      <dsp:txXfrm>
        <a:off x="2678602" y="0"/>
        <a:ext cx="2479997" cy="1055398"/>
      </dsp:txXfrm>
    </dsp:sp>
    <dsp:sp modelId="{CCC94DD2-63D5-41E9-9698-DD4EEC69B491}">
      <dsp:nvSpPr>
        <dsp:cNvPr id="0" name=""/>
        <dsp:cNvSpPr/>
      </dsp:nvSpPr>
      <dsp:spPr>
        <a:xfrm>
          <a:off x="5356999" y="0"/>
          <a:ext cx="2479997" cy="2638496"/>
        </a:xfrm>
        <a:prstGeom prst="rect">
          <a:avLst/>
        </a:prstGeom>
        <a:solidFill>
          <a:schemeClr val="accent1">
            <a:shade val="50000"/>
            <a:hueOff val="589649"/>
            <a:satOff val="-61978"/>
            <a:lumOff val="53482"/>
            <a:alphaOff val="0"/>
          </a:schemeClr>
        </a:solidFill>
        <a:ln w="19050" cap="flat" cmpd="sng" algn="ctr">
          <a:solidFill>
            <a:schemeClr val="accent1">
              <a:shade val="50000"/>
              <a:hueOff val="589649"/>
              <a:satOff val="-61978"/>
              <a:lumOff val="534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Corruption weakens institutional confidence.</a:t>
          </a:r>
        </a:p>
      </dsp:txBody>
      <dsp:txXfrm>
        <a:off x="5356999" y="1055398"/>
        <a:ext cx="2479997" cy="1583097"/>
      </dsp:txXfrm>
    </dsp:sp>
    <dsp:sp modelId="{04525B64-E52E-41B5-9B32-7098CF8E6E57}">
      <dsp:nvSpPr>
        <dsp:cNvPr id="0" name=""/>
        <dsp:cNvSpPr/>
      </dsp:nvSpPr>
      <dsp:spPr>
        <a:xfrm>
          <a:off x="5356999" y="0"/>
          <a:ext cx="2479997" cy="1055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03</a:t>
          </a:r>
        </a:p>
      </dsp:txBody>
      <dsp:txXfrm>
        <a:off x="5356999" y="0"/>
        <a:ext cx="2479997" cy="1055398"/>
      </dsp:txXfrm>
    </dsp:sp>
    <dsp:sp modelId="{5599D017-C22C-402D-969A-4F94160203D3}">
      <dsp:nvSpPr>
        <dsp:cNvPr id="0" name=""/>
        <dsp:cNvSpPr/>
      </dsp:nvSpPr>
      <dsp:spPr>
        <a:xfrm>
          <a:off x="8035397" y="0"/>
          <a:ext cx="2479997" cy="2638496"/>
        </a:xfrm>
        <a:prstGeom prst="rect">
          <a:avLst/>
        </a:prstGeom>
        <a:solidFill>
          <a:schemeClr val="accent1">
            <a:shade val="50000"/>
            <a:hueOff val="294825"/>
            <a:satOff val="-30989"/>
            <a:lumOff val="26741"/>
            <a:alphaOff val="0"/>
          </a:schemeClr>
        </a:solidFill>
        <a:ln w="19050" cap="flat" cmpd="sng" algn="ctr">
          <a:solidFill>
            <a:schemeClr val="accent1">
              <a:shade val="50000"/>
              <a:hueOff val="294825"/>
              <a:satOff val="-30989"/>
              <a:lumOff val="267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Transparency may strengthen trust and legitimacy.</a:t>
          </a:r>
        </a:p>
      </dsp:txBody>
      <dsp:txXfrm>
        <a:off x="8035397" y="1055398"/>
        <a:ext cx="2479997" cy="1583097"/>
      </dsp:txXfrm>
    </dsp:sp>
    <dsp:sp modelId="{6C64225F-B2E9-46D3-A1C1-DEF1F24019F0}">
      <dsp:nvSpPr>
        <dsp:cNvPr id="0" name=""/>
        <dsp:cNvSpPr/>
      </dsp:nvSpPr>
      <dsp:spPr>
        <a:xfrm>
          <a:off x="8035397" y="0"/>
          <a:ext cx="2479997" cy="1055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04</a:t>
          </a:r>
        </a:p>
      </dsp:txBody>
      <dsp:txXfrm>
        <a:off x="8035397" y="0"/>
        <a:ext cx="2479997" cy="10553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DBB16B-928E-4378-96CF-58D33CA8434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6453FA-1F26-40C1-A77B-5347DDEC0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503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453FA-1F26-40C1-A77B-5347DDEC04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0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literature in 30 to 45 seconds.</a:t>
            </a:r>
          </a:p>
          <a:p>
            <a:r>
              <a:rPr lang="en-US" dirty="0"/>
              <a:t>Keep the focus on the logic of the hypotheses.</a:t>
            </a:r>
          </a:p>
          <a:p>
            <a:r>
              <a:rPr lang="en-US" dirty="0"/>
              <a:t>Mention that prior research suggests performance matters more than labels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453FA-1F26-40C1-A77B-5347DDEC040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149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sample size and why it gives strong statistical power.</a:t>
            </a:r>
          </a:p>
          <a:p>
            <a:r>
              <a:rPr lang="en-US" dirty="0"/>
              <a:t>Briefly mention reverse-coding and centering.</a:t>
            </a:r>
          </a:p>
          <a:p>
            <a:r>
              <a:rPr lang="en-US" dirty="0"/>
              <a:t>Note that HC3 robust standard errors were used.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453FA-1F26-40C1-A77B-5347DDEC040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605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453FA-1F26-40C1-A77B-5347DDEC040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586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BB02B-B661-311D-57CE-98A2830FC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6011B3-7982-30E8-34D3-750DF4B60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2F8CB-2914-C1D3-ABD8-D30C49347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D0F7-F97D-4156-A62C-B5EE53092BA5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FFE95-43A4-BC8F-35D3-6CD5DD1CF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34C0C-99B3-C4D3-3046-817D03EB4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5F1DE-AAE1-4A67-A9DA-F64D991F9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038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AC50B-51C3-1013-92DB-B1A4D889B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5FD92-888E-BB8A-069A-2D4281FA4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A425C-5B25-1469-5E0E-950695E60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D0F7-F97D-4156-A62C-B5EE53092BA5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80190-79AA-F588-E3CA-EF4544573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15997-27BB-DB94-8400-019CF8DAA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5F1DE-AAE1-4A67-A9DA-F64D991F9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485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BC89E-1E6D-F96D-286C-B1CD617C0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02433-B9AD-38BA-2711-1DD11BEF9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74567-E801-5CF9-148D-3A532A30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D0F7-F97D-4156-A62C-B5EE53092BA5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3B93B-66D4-5BEC-93B0-E5584D9EE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66040-11D1-70C6-21E6-0A1F97127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5F1DE-AAE1-4A67-A9DA-F64D991F9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245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24D27-1197-A0A1-9A46-59DBB3CA8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5C55B-FA41-309E-582B-026EC2C1B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0A1954-7954-23A9-9CAD-A7EC38FB4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2AE87-C114-5CC0-9149-B02B16C8F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D0F7-F97D-4156-A62C-B5EE53092BA5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103C3-7BCE-2FB5-AB3D-D2D46AE2B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AEFCF-4B47-2EA8-FF27-A1CCD6009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5F1DE-AAE1-4A67-A9DA-F64D991F9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60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B87FE-9C57-D127-1B86-C24E3FB92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C6DA5-FC84-458D-4D4A-F3BA7B3FB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836F11-EA13-0F1C-008A-655E35E0A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5BA8E-27FB-839B-2670-C3FDD51E3F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1FADA9-6E7E-CA2E-F046-2F5F2793B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871681-F567-2A2C-977F-01D749C83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D0F7-F97D-4156-A62C-B5EE53092BA5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0B454-8292-F9D0-01C6-4E8972C46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3C3827-7A5A-82D4-6C77-FA3C8CBD4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5F1DE-AAE1-4A67-A9DA-F64D991F9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184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6A960-9B71-4C8C-0A12-DD6A3AA2C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7BC333-449E-41C6-7105-9A3F136D4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D0F7-F97D-4156-A62C-B5EE53092BA5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F5B753-5625-F92F-A963-8BCAA38B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FC4D8E-BE78-1F67-6C35-55AB0FFB4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5F1DE-AAE1-4A67-A9DA-F64D991F9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13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4D5FFE-58C0-28F9-9581-8AB660AD6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D0F7-F97D-4156-A62C-B5EE53092BA5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276D41-EE63-1C13-3138-7B492E6BE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51617-99F7-618F-E60D-D4C68A2BA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5F1DE-AAE1-4A67-A9DA-F64D991F9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79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D940E-6291-F033-7477-926D87595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DD45C-2C47-AEEB-FC74-682C9F65C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7616C-CE12-E71C-1A39-42473C717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BC7C2-E6CF-FD7B-E97C-506CAB90E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D0F7-F97D-4156-A62C-B5EE53092BA5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9F177-AD76-EF4A-FBFD-BE646C48D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203FE-A11D-3F0D-7C7B-A6CC498EE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5F1DE-AAE1-4A67-A9DA-F64D991F9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023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2CD83-3725-0853-64BC-BD1A7FF4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DFF5B-EDA6-58AD-F284-1F6658A561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8EAE72-E487-4742-9323-20E7B156E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D356A-240C-C47C-3CDC-6923C9D3B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D0F7-F97D-4156-A62C-B5EE53092BA5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AC641-C7E7-C739-89AC-550035947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02892-EE3B-F201-3C0C-946AFEA0A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5F1DE-AAE1-4A67-A9DA-F64D991F9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96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6481C-1138-995B-E3C4-85206F217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0D555-C813-8525-00CF-467682768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8564D-9602-359C-9C8E-13358E9FA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D0F7-F97D-4156-A62C-B5EE53092BA5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0FDDA-247C-2D08-674D-BBEA78463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D002E-1225-2CC7-D1B0-E135C2891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5F1DE-AAE1-4A67-A9DA-F64D991F9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8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0BC9E7-F25E-AF70-0835-BBA42E688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7211D-62A8-0F44-C38E-E0A579569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CFF4C-C342-FDCA-BA60-2AF0FB097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D0F7-F97D-4156-A62C-B5EE53092BA5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6F684-94BD-A27D-3C0A-F8DCB7C36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86943-3B86-372D-60FE-2CBD21A7A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5F1DE-AAE1-4A67-A9DA-F64D991F9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57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CAA53C-DAF1-5A31-27B5-3A9EC3591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DDEA3-2E53-B6E3-9F59-FF4454190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6941B-13ED-653E-FF1C-BF2C4A0F7B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0BD0F7-F97D-4156-A62C-B5EE53092BA5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03040-0B65-0285-5EE2-93C5C17A89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0856A-8D75-16BB-14EC-4251A5CDD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85F1DE-AAE1-4A67-A9DA-F64D991F9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68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5666830-9A19-4E01-8505-D6C7F9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731E12-87A2-B95F-DFD8-AE133A2C50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8" r="7428"/>
          <a:stretch>
            <a:fillRect/>
          </a:stretch>
        </p:blipFill>
        <p:spPr>
          <a:xfrm>
            <a:off x="4110127" y="10"/>
            <a:ext cx="8081873" cy="685799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AE9FC877-7FB6-4D22-9988-35420644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E41809D1-F12E-46BB-B804-5F209D32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57235E-2FEE-6975-4F77-FA689A7FB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t">
            <a:normAutofit/>
          </a:bodyPr>
          <a:lstStyle/>
          <a:p>
            <a:pPr algn="l"/>
            <a:r>
              <a:rPr lang="en-US" sz="3000" dirty="0"/>
              <a:t>Analyzing Global Political Satisfaction: </a:t>
            </a:r>
            <a:br>
              <a:rPr lang="en-US" sz="3000" dirty="0"/>
            </a:br>
            <a:r>
              <a:rPr lang="en-US" sz="2000" dirty="0"/>
              <a:t>The Roles of Well-Being, Hardship, Trust, and Corruption Across Regime Types</a:t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183225-196E-BEE4-E50C-4B117399C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>
            <a:normAutofit/>
          </a:bodyPr>
          <a:lstStyle/>
          <a:p>
            <a:pPr algn="l"/>
            <a:r>
              <a:rPr lang="en-US" sz="1600" dirty="0"/>
              <a:t>Rob Heiber | Mohammad Sohel Mahmud</a:t>
            </a:r>
          </a:p>
          <a:p>
            <a:pPr algn="l"/>
            <a:r>
              <a:rPr lang="en-US" sz="1600" dirty="0"/>
              <a:t>ADTA 5940 Analytics Capstone Experience</a:t>
            </a:r>
          </a:p>
          <a:p>
            <a:pPr algn="l"/>
            <a:r>
              <a:rPr lang="en-US" sz="1600" dirty="0"/>
              <a:t>Dr. Denise Philpot | April 2026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FEEDBD-45DC-CB46-C7BC-B24EE98A024A}"/>
              </a:ext>
            </a:extLst>
          </p:cNvPr>
          <p:cNvSpPr txBox="1"/>
          <p:nvPr/>
        </p:nvSpPr>
        <p:spPr>
          <a:xfrm>
            <a:off x="425273" y="6627488"/>
            <a:ext cx="12458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Map source: ezilon.com</a:t>
            </a:r>
          </a:p>
        </p:txBody>
      </p:sp>
    </p:spTree>
    <p:extLst>
      <p:ext uri="{BB962C8B-B14F-4D97-AF65-F5344CB8AC3E}">
        <p14:creationId xmlns:p14="http://schemas.microsoft.com/office/powerpoint/2010/main" val="2586335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2A28E-AD7E-2D10-E263-E24D3B5AC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27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dirty="0"/>
              <a:t>Research Problem</a:t>
            </a:r>
          </a:p>
        </p:txBody>
      </p:sp>
      <p:graphicFrame>
        <p:nvGraphicFramePr>
          <p:cNvPr id="31" name="Content Placeholder 2">
            <a:extLst>
              <a:ext uri="{FF2B5EF4-FFF2-40B4-BE49-F238E27FC236}">
                <a16:creationId xmlns:a16="http://schemas.microsoft.com/office/drawing/2014/main" id="{60087B9F-C35E-4E2C-631D-1D26E9272E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4993858"/>
              </p:ext>
            </p:extLst>
          </p:nvPr>
        </p:nvGraphicFramePr>
        <p:xfrm>
          <a:off x="33820" y="1261503"/>
          <a:ext cx="9700944" cy="1861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FE0EC87E-41F1-9FA1-EEF1-950329A17409}"/>
              </a:ext>
            </a:extLst>
          </p:cNvPr>
          <p:cNvGrpSpPr/>
          <p:nvPr/>
        </p:nvGrpSpPr>
        <p:grpSpPr>
          <a:xfrm>
            <a:off x="878440" y="3061703"/>
            <a:ext cx="8368301" cy="3431564"/>
            <a:chOff x="996593" y="3354593"/>
            <a:chExt cx="6806628" cy="3395117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F215CB3-3855-7C34-CEDF-803502C162C8}"/>
                </a:ext>
              </a:extLst>
            </p:cNvPr>
            <p:cNvSpPr/>
            <p:nvPr/>
          </p:nvSpPr>
          <p:spPr>
            <a:xfrm>
              <a:off x="996593" y="3583131"/>
              <a:ext cx="1397286" cy="631861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Well-being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E51646A-CCFB-FA55-43C1-6CE82C0E919F}"/>
                </a:ext>
              </a:extLst>
            </p:cNvPr>
            <p:cNvSpPr/>
            <p:nvPr/>
          </p:nvSpPr>
          <p:spPr>
            <a:xfrm>
              <a:off x="996593" y="6117849"/>
              <a:ext cx="1397286" cy="631861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Corruption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DCA86AE-21A4-BB0F-C93D-8FB0905C3555}"/>
                </a:ext>
              </a:extLst>
            </p:cNvPr>
            <p:cNvSpPr/>
            <p:nvPr/>
          </p:nvSpPr>
          <p:spPr>
            <a:xfrm>
              <a:off x="996593" y="4428037"/>
              <a:ext cx="1397286" cy="631861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Trust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219378D-88BE-2AE0-B9DF-8CFB11D77093}"/>
                </a:ext>
              </a:extLst>
            </p:cNvPr>
            <p:cNvSpPr/>
            <p:nvPr/>
          </p:nvSpPr>
          <p:spPr>
            <a:xfrm>
              <a:off x="996593" y="5272943"/>
              <a:ext cx="1397286" cy="63186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Hardship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9F61873-A154-FDF7-AE12-E322D663ECDB}"/>
                </a:ext>
              </a:extLst>
            </p:cNvPr>
            <p:cNvSpPr/>
            <p:nvPr/>
          </p:nvSpPr>
          <p:spPr>
            <a:xfrm>
              <a:off x="3434993" y="4743967"/>
              <a:ext cx="1397286" cy="631861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Regime type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B27C761-6E78-74F5-42EC-16A6F88CF8D0}"/>
                </a:ext>
              </a:extLst>
            </p:cNvPr>
            <p:cNvSpPr/>
            <p:nvPr/>
          </p:nvSpPr>
          <p:spPr>
            <a:xfrm>
              <a:off x="4534327" y="3354593"/>
              <a:ext cx="1928118" cy="1088936"/>
            </a:xfrm>
            <a:prstGeom prst="roundRect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Regime context can amplify or weaken the relationship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9EEA79D-966E-9EFF-2B57-459A9B09AB70}"/>
                </a:ext>
              </a:extLst>
            </p:cNvPr>
            <p:cNvSpPr/>
            <p:nvPr/>
          </p:nvSpPr>
          <p:spPr>
            <a:xfrm>
              <a:off x="6217576" y="4743967"/>
              <a:ext cx="1585645" cy="631861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Political Satisfaction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0B54EB4-5D20-D3CB-EC38-83DE3E56E3C8}"/>
                </a:ext>
              </a:extLst>
            </p:cNvPr>
            <p:cNvCxnSpPr>
              <a:stCxn id="4" idx="3"/>
              <a:endCxn id="9" idx="1"/>
            </p:cNvCxnSpPr>
            <p:nvPr/>
          </p:nvCxnSpPr>
          <p:spPr>
            <a:xfrm>
              <a:off x="2393879" y="3899062"/>
              <a:ext cx="1041114" cy="11608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718483E-4659-6357-2AF6-CE529DBA5DD5}"/>
                </a:ext>
              </a:extLst>
            </p:cNvPr>
            <p:cNvCxnSpPr>
              <a:cxnSpLocks/>
              <a:stCxn id="7" idx="3"/>
              <a:endCxn id="9" idx="1"/>
            </p:cNvCxnSpPr>
            <p:nvPr/>
          </p:nvCxnSpPr>
          <p:spPr>
            <a:xfrm>
              <a:off x="2393879" y="4743968"/>
              <a:ext cx="1041114" cy="3159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0ADE0AD-6B45-3767-5AE2-F9F45503159D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 flipV="1">
              <a:off x="2393879" y="5059898"/>
              <a:ext cx="1041114" cy="52897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40FD820-CC55-4ECD-AFCC-F782415E30F7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 flipV="1">
              <a:off x="2393879" y="5059898"/>
              <a:ext cx="1041114" cy="143297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54CC72B-F7A5-9012-1C9B-A7577D45CA4C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>
              <a:off x="4820290" y="5059897"/>
              <a:ext cx="139728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83357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2946D-7CCC-B163-D053-3E7C8D63F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Literature and Hypotheses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1428C452-A372-DC17-A7EF-736A680B11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3095114"/>
              </p:ext>
            </p:extLst>
          </p:nvPr>
        </p:nvGraphicFramePr>
        <p:xfrm>
          <a:off x="838200" y="1825625"/>
          <a:ext cx="10515600" cy="2638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D085E7E-38BA-D147-55CF-4A4308DE2A76}"/>
              </a:ext>
            </a:extLst>
          </p:cNvPr>
          <p:cNvSpPr txBox="1">
            <a:spLocks/>
          </p:cNvSpPr>
          <p:nvPr/>
        </p:nvSpPr>
        <p:spPr>
          <a:xfrm>
            <a:off x="801383" y="4767208"/>
            <a:ext cx="9153417" cy="1792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800" dirty="0"/>
              <a:t>H1: Higher perceived corruption and greater hardship reduce trust and political satisfaction.</a:t>
            </a:r>
          </a:p>
          <a:p>
            <a:r>
              <a:rPr lang="en-US" sz="1800" dirty="0"/>
              <a:t>H2: Trust’s effect on political satisfaction depends on regime type and transparency.</a:t>
            </a:r>
          </a:p>
        </p:txBody>
      </p:sp>
    </p:spTree>
    <p:extLst>
      <p:ext uri="{BB962C8B-B14F-4D97-AF65-F5344CB8AC3E}">
        <p14:creationId xmlns:p14="http://schemas.microsoft.com/office/powerpoint/2010/main" val="1627090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7" name="Rectangle 2076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78" name="Rectangle 2077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409ED9-7104-2598-278A-C0C00190C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en-US" sz="3200"/>
              <a:t>Data and Measures</a:t>
            </a:r>
          </a:p>
        </p:txBody>
      </p:sp>
      <p:sp>
        <p:nvSpPr>
          <p:cNvPr id="2079" name="Rectangle 2078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80" name="Rectangle 2079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D9F91DED-A1D5-D875-7BA8-7EF74B7E5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/>
              <a:t>WVS Wave 7 (2017–2023) is a global survey of values, beliefs, and social norms conducted in 64 countries with over 80,000 respondents.</a:t>
            </a:r>
          </a:p>
          <a:p>
            <a:endParaRPr lang="en-US" sz="1800" dirty="0"/>
          </a:p>
        </p:txBody>
      </p:sp>
      <p:pic>
        <p:nvPicPr>
          <p:cNvPr id="2050" name="Picture 2" descr="WVS Database">
            <a:extLst>
              <a:ext uri="{FF2B5EF4-FFF2-40B4-BE49-F238E27FC236}">
                <a16:creationId xmlns:a16="http://schemas.microsoft.com/office/drawing/2014/main" id="{71BBDCA5-4557-4FEE-CEFF-7E8BB4A87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7783" y="3094100"/>
            <a:ext cx="5481509" cy="275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DFE0086-3CB4-E50F-76B0-E6E7BA03B0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664510"/>
              </p:ext>
            </p:extLst>
          </p:nvPr>
        </p:nvGraphicFramePr>
        <p:xfrm>
          <a:off x="6198781" y="2826042"/>
          <a:ext cx="5523083" cy="3290576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688225">
                  <a:extLst>
                    <a:ext uri="{9D8B030D-6E8A-4147-A177-3AD203B41FA5}">
                      <a16:colId xmlns:a16="http://schemas.microsoft.com/office/drawing/2014/main" val="1419012923"/>
                    </a:ext>
                  </a:extLst>
                </a:gridCol>
                <a:gridCol w="1853136">
                  <a:extLst>
                    <a:ext uri="{9D8B030D-6E8A-4147-A177-3AD203B41FA5}">
                      <a16:colId xmlns:a16="http://schemas.microsoft.com/office/drawing/2014/main" val="1114426496"/>
                    </a:ext>
                  </a:extLst>
                </a:gridCol>
                <a:gridCol w="1981722">
                  <a:extLst>
                    <a:ext uri="{9D8B030D-6E8A-4147-A177-3AD203B41FA5}">
                      <a16:colId xmlns:a16="http://schemas.microsoft.com/office/drawing/2014/main" val="3496320634"/>
                    </a:ext>
                  </a:extLst>
                </a:gridCol>
              </a:tblGrid>
              <a:tr h="453020">
                <a:tc>
                  <a:txBody>
                    <a:bodyPr/>
                    <a:lstStyle/>
                    <a:p>
                      <a:r>
                        <a:rPr lang="en-US" sz="1800" b="0" cap="none" spc="0">
                          <a:solidFill>
                            <a:schemeClr val="bg1"/>
                          </a:solidFill>
                        </a:rPr>
                        <a:t>Group</a:t>
                      </a:r>
                    </a:p>
                  </a:txBody>
                  <a:tcPr marL="82241" marR="82241" marT="100727" marB="4112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0">
                          <a:solidFill>
                            <a:schemeClr val="bg1"/>
                          </a:solidFill>
                        </a:rPr>
                        <a:t>Variables</a:t>
                      </a:r>
                    </a:p>
                  </a:txBody>
                  <a:tcPr marL="82241" marR="82241" marT="100727" marB="4112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0">
                          <a:solidFill>
                            <a:schemeClr val="bg1"/>
                          </a:solidFill>
                        </a:rPr>
                        <a:t>Role</a:t>
                      </a:r>
                    </a:p>
                  </a:txBody>
                  <a:tcPr marL="82241" marR="82241" marT="100727" marB="4112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629716"/>
                  </a:ext>
                </a:extLst>
              </a:tr>
              <a:tr h="597378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Outcome</a:t>
                      </a:r>
                    </a:p>
                  </a:txBody>
                  <a:tcPr marL="82241" marR="82241" marT="100727" marB="411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Political satisfaction (Q252_DV)</a:t>
                      </a:r>
                    </a:p>
                  </a:txBody>
                  <a:tcPr marL="82241" marR="82241" marT="100727" marB="411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Dependent variable</a:t>
                      </a:r>
                    </a:p>
                  </a:txBody>
                  <a:tcPr marL="82241" marR="82241" marT="100727" marB="411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076255"/>
                  </a:ext>
                </a:extLst>
              </a:tr>
              <a:tr h="1222929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Main predictors</a:t>
                      </a:r>
                    </a:p>
                  </a:txBody>
                  <a:tcPr marL="82241" marR="82241" marT="100727" marB="411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Well-being, institutional trust, hardship, corruption transparency, polity/regime context</a:t>
                      </a:r>
                    </a:p>
                  </a:txBody>
                  <a:tcPr marL="82241" marR="82241" marT="100727" marB="411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Core explanatory variables</a:t>
                      </a:r>
                    </a:p>
                  </a:txBody>
                  <a:tcPr marL="82241" marR="82241" marT="100727" marB="411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03009"/>
                  </a:ext>
                </a:extLst>
              </a:tr>
              <a:tr h="597378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Controls</a:t>
                      </a:r>
                    </a:p>
                  </a:txBody>
                  <a:tcPr marL="82241" marR="82241" marT="100727" marB="411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Sex, age, education, social class, income</a:t>
                      </a:r>
                    </a:p>
                  </a:txBody>
                  <a:tcPr marL="82241" marR="82241" marT="100727" marB="411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Background covariates</a:t>
                      </a:r>
                    </a:p>
                  </a:txBody>
                  <a:tcPr marL="82241" marR="82241" marT="100727" marB="411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040115"/>
                  </a:ext>
                </a:extLst>
              </a:tr>
              <a:tr h="419871">
                <a:tc>
                  <a:txBody>
                    <a:bodyPr/>
                    <a:lstStyle/>
                    <a:p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2241" marR="82241" marT="100727" marB="411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2241" marR="82241" marT="100727" marB="411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2241" marR="82241" marT="100727" marB="411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345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4261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84DF55BE-B4AB-4BA1-BDE1-E9F7FB3F1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0D4A28-3126-5CDB-9CEC-DEB43380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508" y="134749"/>
            <a:ext cx="5981278" cy="16846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 dirty="0"/>
              <a:t>Exploratory Data Analysis</a:t>
            </a:r>
            <a:br>
              <a:rPr lang="en-US" sz="3000" dirty="0"/>
            </a:br>
            <a:endParaRPr lang="en-US" sz="30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274B3F-8667-333C-1170-EA31A4248F9D}"/>
              </a:ext>
            </a:extLst>
          </p:cNvPr>
          <p:cNvSpPr txBox="1">
            <a:spLocks/>
          </p:cNvSpPr>
          <p:nvPr/>
        </p:nvSpPr>
        <p:spPr>
          <a:xfrm>
            <a:off x="738508" y="4070386"/>
            <a:ext cx="5415712" cy="2476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ea typeface="+mn-ea"/>
                <a:cs typeface="+mn-cs"/>
              </a:rPr>
              <a:t>Political satisfaction is distributed across the full 1-10 scale, with most responses concentrated in the middle and upper-middle range.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ea typeface="+mn-ea"/>
                <a:cs typeface="+mn-cs"/>
              </a:rPr>
              <a:t>The outcome differs somewhat by regime type.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ea typeface="+mn-ea"/>
                <a:cs typeface="+mn-cs"/>
              </a:rPr>
              <a:t>Trust and well-being are positively associated with satisfaction.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ea typeface="+mn-ea"/>
                <a:cs typeface="+mn-cs"/>
              </a:rPr>
              <a:t>Hardship and cynicism show weaker or negative associations.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ea typeface="+mn-ea"/>
                <a:cs typeface="+mn-cs"/>
              </a:rPr>
              <a:t>Corruption transparency has a notable relationship with satisfaction.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dirty="0">
              <a:latin typeface="+mn-lt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A4C391-8362-F6E4-AA24-DA3232427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08" y="1065380"/>
            <a:ext cx="5050431" cy="3005006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34CEC0-034C-8EF2-607E-78DC96AD7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l="3385" r="21733" b="1"/>
          <a:stretch>
            <a:fillRect/>
          </a:stretch>
        </p:blipFill>
        <p:spPr>
          <a:xfrm>
            <a:off x="6094474" y="2578813"/>
            <a:ext cx="4603805" cy="40115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EF4F03-6520-93A3-1B23-56BF087BF9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7846" y="888383"/>
            <a:ext cx="2510132" cy="166801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D42A26B-C3E4-B13C-A389-8C996FD68601}"/>
              </a:ext>
            </a:extLst>
          </p:cNvPr>
          <p:cNvSpPr txBox="1"/>
          <p:nvPr/>
        </p:nvSpPr>
        <p:spPr>
          <a:xfrm>
            <a:off x="8062349" y="6591649"/>
            <a:ext cx="12538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Correlation</a:t>
            </a:r>
            <a:r>
              <a:rPr lang="en-US" sz="800" dirty="0"/>
              <a:t> heat map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8ABBF1-C505-5B87-1ABE-4BF2E0944B0D}"/>
              </a:ext>
            </a:extLst>
          </p:cNvPr>
          <p:cNvSpPr txBox="1"/>
          <p:nvPr/>
        </p:nvSpPr>
        <p:spPr>
          <a:xfrm rot="16200000">
            <a:off x="8943566" y="1599278"/>
            <a:ext cx="6319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Box plot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728428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178E8-D0AC-7EA0-98B5-EF2E6118F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240241"/>
            <a:ext cx="10760054" cy="1228299"/>
          </a:xfrm>
        </p:spPr>
        <p:txBody>
          <a:bodyPr>
            <a:normAutofit/>
          </a:bodyPr>
          <a:lstStyle/>
          <a:p>
            <a:r>
              <a:rPr lang="en-US" sz="3000" dirty="0"/>
              <a:t>Model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7263C-6676-0BC2-D6C3-4F8A96430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898" y="2742944"/>
            <a:ext cx="4823779" cy="3429256"/>
          </a:xfrm>
        </p:spPr>
        <p:txBody>
          <a:bodyPr anchor="ctr">
            <a:normAutofit/>
          </a:bodyPr>
          <a:lstStyle/>
          <a:p>
            <a:r>
              <a:rPr lang="en-US" sz="1800" dirty="0"/>
              <a:t>Model 1: controls only.</a:t>
            </a:r>
          </a:p>
          <a:p>
            <a:r>
              <a:rPr lang="en-US" sz="1800" dirty="0"/>
              <a:t>Model 2: individual-level predictors.</a:t>
            </a:r>
          </a:p>
          <a:p>
            <a:r>
              <a:rPr lang="en-US" sz="1800" dirty="0"/>
              <a:t>Model 3: adds polity.</a:t>
            </a:r>
          </a:p>
          <a:p>
            <a:r>
              <a:rPr lang="en-US" sz="1800" dirty="0"/>
              <a:t>Model 4: adds corruption transparency.</a:t>
            </a:r>
          </a:p>
          <a:p>
            <a:r>
              <a:rPr lang="en-US" sz="1800" dirty="0"/>
              <a:t>Model 5: binary democracy split.</a:t>
            </a:r>
          </a:p>
          <a:p>
            <a:r>
              <a:rPr lang="en-US" sz="1800" dirty="0"/>
              <a:t>Preferred model: Model 4.</a:t>
            </a:r>
          </a:p>
          <a:p>
            <a:endParaRPr lang="en-US" sz="1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A7B855-E7EB-4388-02CC-325A71E47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046756"/>
              </p:ext>
            </p:extLst>
          </p:nvPr>
        </p:nvGraphicFramePr>
        <p:xfrm>
          <a:off x="6343650" y="2742944"/>
          <a:ext cx="5178209" cy="296447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31506">
                  <a:extLst>
                    <a:ext uri="{9D8B030D-6E8A-4147-A177-3AD203B41FA5}">
                      <a16:colId xmlns:a16="http://schemas.microsoft.com/office/drawing/2014/main" val="671843364"/>
                    </a:ext>
                  </a:extLst>
                </a:gridCol>
                <a:gridCol w="2004566">
                  <a:extLst>
                    <a:ext uri="{9D8B030D-6E8A-4147-A177-3AD203B41FA5}">
                      <a16:colId xmlns:a16="http://schemas.microsoft.com/office/drawing/2014/main" val="921911048"/>
                    </a:ext>
                  </a:extLst>
                </a:gridCol>
                <a:gridCol w="744431">
                  <a:extLst>
                    <a:ext uri="{9D8B030D-6E8A-4147-A177-3AD203B41FA5}">
                      <a16:colId xmlns:a16="http://schemas.microsoft.com/office/drawing/2014/main" val="334870962"/>
                    </a:ext>
                  </a:extLst>
                </a:gridCol>
                <a:gridCol w="853275">
                  <a:extLst>
                    <a:ext uri="{9D8B030D-6E8A-4147-A177-3AD203B41FA5}">
                      <a16:colId xmlns:a16="http://schemas.microsoft.com/office/drawing/2014/main" val="3407167204"/>
                    </a:ext>
                  </a:extLst>
                </a:gridCol>
                <a:gridCol w="744431">
                  <a:extLst>
                    <a:ext uri="{9D8B030D-6E8A-4147-A177-3AD203B41FA5}">
                      <a16:colId xmlns:a16="http://schemas.microsoft.com/office/drawing/2014/main" val="4050822819"/>
                    </a:ext>
                  </a:extLst>
                </a:gridCol>
              </a:tblGrid>
              <a:tr h="830034"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Model</a:t>
                      </a:r>
                    </a:p>
                  </a:txBody>
                  <a:tcPr marL="88301" marR="88301" marT="44151" marB="4415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Predictors Added</a:t>
                      </a:r>
                    </a:p>
                  </a:txBody>
                  <a:tcPr marL="88301" marR="88301" marT="44151" marB="4415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Adj. </a:t>
                      </a:r>
                      <a:r>
                        <a:rPr lang="en-US" sz="1500">
                          <a:effectLst/>
                        </a:rPr>
                        <a:t>R²</a:t>
                      </a:r>
                      <a:endParaRPr lang="en-US" sz="1500"/>
                    </a:p>
                  </a:txBody>
                  <a:tcPr marL="88301" marR="88301" marT="44151" marB="4415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N</a:t>
                      </a:r>
                    </a:p>
                  </a:txBody>
                  <a:tcPr marL="88301" marR="88301" marT="44151" marB="4415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/>
                        <a:t>Adj. </a:t>
                      </a:r>
                      <a:r>
                        <a:rPr lang="en-US" sz="1500">
                          <a:effectLst/>
                        </a:rPr>
                        <a:t>R²</a:t>
                      </a:r>
                      <a:endParaRPr lang="en-US" sz="1500"/>
                    </a:p>
                    <a:p>
                      <a:pPr algn="l"/>
                      <a:r>
                        <a:rPr lang="en-US" sz="1500"/>
                        <a:t>Gain</a:t>
                      </a:r>
                    </a:p>
                  </a:txBody>
                  <a:tcPr marL="88301" marR="88301" marT="44151" marB="44151"/>
                </a:tc>
                <a:extLst>
                  <a:ext uri="{0D108BD9-81ED-4DB2-BD59-A6C34878D82A}">
                    <a16:rowId xmlns:a16="http://schemas.microsoft.com/office/drawing/2014/main" val="3472857123"/>
                  </a:ext>
                </a:extLst>
              </a:tr>
              <a:tr h="359093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M1</a:t>
                      </a:r>
                    </a:p>
                  </a:txBody>
                  <a:tcPr marL="88301" marR="88301" marT="44151" marB="44151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Controls only</a:t>
                      </a:r>
                    </a:p>
                  </a:txBody>
                  <a:tcPr marL="66226" marR="66226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0.020</a:t>
                      </a:r>
                    </a:p>
                  </a:txBody>
                  <a:tcPr marL="66226" marR="66226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71,866</a:t>
                      </a:r>
                    </a:p>
                  </a:txBody>
                  <a:tcPr marL="66226" marR="66226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6226" marR="66226" marT="0" marB="0"/>
                </a:tc>
                <a:extLst>
                  <a:ext uri="{0D108BD9-81ED-4DB2-BD59-A6C34878D82A}">
                    <a16:rowId xmlns:a16="http://schemas.microsoft.com/office/drawing/2014/main" val="2172133149"/>
                  </a:ext>
                </a:extLst>
              </a:tr>
              <a:tr h="359093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M2</a:t>
                      </a:r>
                    </a:p>
                  </a:txBody>
                  <a:tcPr marL="88301" marR="88301" marT="44151" marB="44151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Individual predictors</a:t>
                      </a:r>
                    </a:p>
                  </a:txBody>
                  <a:tcPr marL="66226" marR="66226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0.277</a:t>
                      </a:r>
                    </a:p>
                  </a:txBody>
                  <a:tcPr marL="66226" marR="66226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69,303</a:t>
                      </a:r>
                    </a:p>
                  </a:txBody>
                  <a:tcPr marL="66226" marR="66226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0.257</a:t>
                      </a:r>
                    </a:p>
                  </a:txBody>
                  <a:tcPr marL="66226" marR="66226" marT="0" marB="0"/>
                </a:tc>
                <a:extLst>
                  <a:ext uri="{0D108BD9-81ED-4DB2-BD59-A6C34878D82A}">
                    <a16:rowId xmlns:a16="http://schemas.microsoft.com/office/drawing/2014/main" val="1870065576"/>
                  </a:ext>
                </a:extLst>
              </a:tr>
              <a:tr h="359093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M3</a:t>
                      </a:r>
                    </a:p>
                  </a:txBody>
                  <a:tcPr marL="88301" marR="88301" marT="44151" marB="44151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Polity score</a:t>
                      </a:r>
                    </a:p>
                  </a:txBody>
                  <a:tcPr marL="66226" marR="66226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0.279</a:t>
                      </a:r>
                    </a:p>
                  </a:txBody>
                  <a:tcPr marL="66226" marR="66226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69,303</a:t>
                      </a:r>
                    </a:p>
                  </a:txBody>
                  <a:tcPr marL="66226" marR="66226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0.002</a:t>
                      </a:r>
                    </a:p>
                  </a:txBody>
                  <a:tcPr marL="66226" marR="66226" marT="0" marB="0"/>
                </a:tc>
                <a:extLst>
                  <a:ext uri="{0D108BD9-81ED-4DB2-BD59-A6C34878D82A}">
                    <a16:rowId xmlns:a16="http://schemas.microsoft.com/office/drawing/2014/main" val="923540354"/>
                  </a:ext>
                </a:extLst>
              </a:tr>
              <a:tr h="698072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M4</a:t>
                      </a:r>
                    </a:p>
                  </a:txBody>
                  <a:tcPr marL="88301" marR="88301" marT="44151" marB="44151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+ Corruption transparency</a:t>
                      </a:r>
                    </a:p>
                  </a:txBody>
                  <a:tcPr marL="66226" marR="66226" marT="0" marB="0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0.285</a:t>
                      </a:r>
                    </a:p>
                  </a:txBody>
                  <a:tcPr marL="66226" marR="66226" marT="0" marB="0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69,303</a:t>
                      </a:r>
                    </a:p>
                  </a:txBody>
                  <a:tcPr marL="66226" marR="66226" marT="0" marB="0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0.006</a:t>
                      </a:r>
                    </a:p>
                  </a:txBody>
                  <a:tcPr marL="66226" marR="66226" marT="0" marB="0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347461"/>
                  </a:ext>
                </a:extLst>
              </a:tr>
              <a:tr h="359093"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M5</a:t>
                      </a:r>
                    </a:p>
                  </a:txBody>
                  <a:tcPr marL="88301" marR="88301" marT="44151" marB="44151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Democracy binary</a:t>
                      </a:r>
                    </a:p>
                  </a:txBody>
                  <a:tcPr marL="66226" marR="66226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0.283</a:t>
                      </a:r>
                    </a:p>
                  </a:txBody>
                  <a:tcPr marL="66226" marR="66226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69,303</a:t>
                      </a:r>
                    </a:p>
                  </a:txBody>
                  <a:tcPr marL="66226" marR="66226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-0.002</a:t>
                      </a:r>
                    </a:p>
                  </a:txBody>
                  <a:tcPr marL="66226" marR="66226" marT="0" marB="0"/>
                </a:tc>
                <a:extLst>
                  <a:ext uri="{0D108BD9-81ED-4DB2-BD59-A6C34878D82A}">
                    <a16:rowId xmlns:a16="http://schemas.microsoft.com/office/drawing/2014/main" val="2674097619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DB3CCF4-51A8-D94F-4BA9-5CC89E3D3FA0}"/>
              </a:ext>
            </a:extLst>
          </p:cNvPr>
          <p:cNvSpPr txBox="1">
            <a:spLocks/>
          </p:cNvSpPr>
          <p:nvPr/>
        </p:nvSpPr>
        <p:spPr>
          <a:xfrm>
            <a:off x="802898" y="2057144"/>
            <a:ext cx="10760054" cy="598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We built the models in a nested sequence so we could test how each added block of variables improves fit. </a:t>
            </a:r>
          </a:p>
        </p:txBody>
      </p:sp>
      <p:pic>
        <p:nvPicPr>
          <p:cNvPr id="3076" name="Picture 4" descr="Image result for check symbol">
            <a:extLst>
              <a:ext uri="{FF2B5EF4-FFF2-40B4-BE49-F238E27FC236}">
                <a16:creationId xmlns:a16="http://schemas.microsoft.com/office/drawing/2014/main" id="{EFD663F5-C22D-11EE-DF6F-A9437EFD4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4924" y="4696802"/>
            <a:ext cx="598726" cy="598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4311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CB962CF-61A3-4EF9-94F6-7C59B0329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AE784-CE47-C2A9-B7B7-B747D1AAD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337"/>
            <a:ext cx="6797405" cy="1651404"/>
          </a:xfrm>
        </p:spPr>
        <p:txBody>
          <a:bodyPr>
            <a:normAutofit/>
          </a:bodyPr>
          <a:lstStyle/>
          <a:p>
            <a:r>
              <a:rPr lang="en-US" sz="3000" dirty="0"/>
              <a:t>Model 1 &amp; 2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A9069-1241-F08D-A4B5-7AF4F2D21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004" y="1763155"/>
            <a:ext cx="6797405" cy="3719384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/>
              <a:t>Model 1: limited explanatory power.</a:t>
            </a:r>
          </a:p>
          <a:p>
            <a:endParaRPr lang="en-US" sz="1800" dirty="0"/>
          </a:p>
          <a:p>
            <a:r>
              <a:rPr lang="en-US" sz="1800" dirty="0"/>
              <a:t>It shows that the household income (Q288) is the strongest positive predictor.</a:t>
            </a:r>
          </a:p>
          <a:p>
            <a:endParaRPr lang="en-US" sz="1800" dirty="0"/>
          </a:p>
          <a:p>
            <a:r>
              <a:rPr lang="en-US" sz="1800" dirty="0"/>
              <a:t>Model 2: major improvement in fit.</a:t>
            </a:r>
          </a:p>
          <a:p>
            <a:endParaRPr lang="en-US" sz="1800" dirty="0"/>
          </a:p>
          <a:p>
            <a:r>
              <a:rPr lang="en-US" sz="1800" dirty="0"/>
              <a:t>It shifts the explanation away from a demographic story towards trust and well-being and trust variables dominate followed by life and financial satisfaction.</a:t>
            </a:r>
          </a:p>
          <a:p>
            <a:endParaRPr lang="en-US" sz="1800" dirty="0"/>
          </a:p>
          <a:p>
            <a:r>
              <a:rPr lang="en-US" sz="1800" dirty="0"/>
              <a:t>Model 1 is mostly a baseline check, while Model 2 shows that institutional trust and subjective well-being are the main drivers of the dependent variable.</a:t>
            </a:r>
          </a:p>
          <a:p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5052F3-A78E-25FF-AEBA-5BC97015B1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1" r="8677" b="-3"/>
          <a:stretch>
            <a:fillRect/>
          </a:stretch>
        </p:blipFill>
        <p:spPr>
          <a:xfrm>
            <a:off x="7635605" y="3370267"/>
            <a:ext cx="3726383" cy="31681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707F62-1D12-6AB6-49D6-9C64E835BD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596" y="556337"/>
            <a:ext cx="3690400" cy="281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588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12B583-DE6A-C5D7-769F-E3DA9A4A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105650" cy="1323625"/>
          </a:xfrm>
        </p:spPr>
        <p:txBody>
          <a:bodyPr>
            <a:normAutofit/>
          </a:bodyPr>
          <a:lstStyle/>
          <a:p>
            <a:r>
              <a:rPr lang="en-US" sz="3000" dirty="0"/>
              <a:t>Model 4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A7A3B-3790-B7F4-2A5C-6C8E471AC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1655429"/>
            <a:ext cx="3957637" cy="4488211"/>
          </a:xfrm>
        </p:spPr>
        <p:txBody>
          <a:bodyPr>
            <a:normAutofit fontScale="85000" lnSpcReduction="20000"/>
          </a:bodyPr>
          <a:lstStyle/>
          <a:p>
            <a:r>
              <a:rPr lang="en-US" sz="1900" dirty="0" err="1"/>
              <a:t>Polity_c</a:t>
            </a:r>
            <a:r>
              <a:rPr lang="en-US" sz="1900" dirty="0"/>
              <a:t> is negative and significant, as democracy/Polity increases, satisfaction does not automatically rise, indicates that citizens in more democratic settings can be more demanding and more evaluative of government performance.</a:t>
            </a:r>
          </a:p>
          <a:p>
            <a:endParaRPr lang="en-US" sz="1900" dirty="0"/>
          </a:p>
          <a:p>
            <a:r>
              <a:rPr lang="en-US" sz="1900" dirty="0"/>
              <a:t>Transparency is positively related to satisfaction, meaning more transparent contexts are associated with higher political-system satisfaction in this model.</a:t>
            </a:r>
          </a:p>
          <a:p>
            <a:endParaRPr lang="en-US" sz="1900" dirty="0"/>
          </a:p>
          <a:p>
            <a:r>
              <a:rPr lang="en-US" sz="1900" dirty="0"/>
              <a:t>More democratic settings seem to encourage more critical citizen evaluations, while transparency helps build satisfaction; importantly, trust has a context-dependent effect rather than a one-size-fits-all effect.</a:t>
            </a:r>
          </a:p>
          <a:p>
            <a:r>
              <a:rPr lang="en-US" sz="1900" dirty="0"/>
              <a:t>Model 4 adj. R² = 0.285 (in the final model comparison)</a:t>
            </a:r>
          </a:p>
          <a:p>
            <a:endParaRPr lang="en-US" sz="1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763573-037C-1549-5A72-0929C3A10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515" y="1655430"/>
            <a:ext cx="6279748" cy="483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070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111EC-163F-5B42-3B96-ACC52DB73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924412"/>
            <a:ext cx="8291513" cy="694352"/>
          </a:xfrm>
        </p:spPr>
        <p:txBody>
          <a:bodyPr anchor="t">
            <a:normAutofit fontScale="90000"/>
          </a:bodyPr>
          <a:lstStyle/>
          <a:p>
            <a:r>
              <a:rPr lang="en-US" sz="3200" dirty="0"/>
              <a:t>Diagnostics and Subgroup Patterns-acceptance tests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7C77032-C865-6057-7D7A-E2743CFA2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CA2B6-0E15-68E6-A5E9-C50D7C461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72029"/>
            <a:ext cx="9553575" cy="1633538"/>
          </a:xfrm>
        </p:spPr>
        <p:txBody>
          <a:bodyPr>
            <a:normAutofit fontScale="92500"/>
          </a:bodyPr>
          <a:lstStyle/>
          <a:p>
            <a:r>
              <a:rPr lang="en-US" sz="1800" dirty="0"/>
              <a:t>Residuals vs. Fitted values show banding consistent with the bounded 1-10 outcome scale;</a:t>
            </a:r>
          </a:p>
          <a:p>
            <a:r>
              <a:rPr lang="en-US" sz="1800" dirty="0"/>
              <a:t>The Q-Q plot is approximately linear with modest tail departures, so the residuals are mostly normal with a little deviations at the ends.</a:t>
            </a:r>
          </a:p>
          <a:p>
            <a:r>
              <a:rPr lang="en-US" sz="1800" dirty="0"/>
              <a:t>So, the model is broadly acceptable and the HC3 robust standard errors help protect inference. our inference remains reliable even with modest non-normality or heteroskedasticity.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03AE05-6F83-5972-96FF-9D3F9072FE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124"/>
          <a:stretch>
            <a:fillRect/>
          </a:stretch>
        </p:blipFill>
        <p:spPr>
          <a:xfrm>
            <a:off x="395288" y="3471377"/>
            <a:ext cx="10229850" cy="3073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616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DC598-EF35-5B17-8780-CDD2E50F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Conclusion and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A786A-6775-51FD-F1AD-D11DFED58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9362" y="1690687"/>
            <a:ext cx="6286502" cy="1214437"/>
          </a:xfrm>
        </p:spPr>
        <p:txBody>
          <a:bodyPr>
            <a:normAutofit/>
          </a:bodyPr>
          <a:lstStyle/>
          <a:p>
            <a:r>
              <a:rPr lang="en-US" sz="1800" dirty="0"/>
              <a:t>Political satisfaction depends on performance, trust, and transparency. Trust builds legitimacy.</a:t>
            </a:r>
          </a:p>
        </p:txBody>
      </p:sp>
      <p:pic>
        <p:nvPicPr>
          <p:cNvPr id="4098" name="Picture 2" descr="Image result for handshake">
            <a:extLst>
              <a:ext uri="{FF2B5EF4-FFF2-40B4-BE49-F238E27FC236}">
                <a16:creationId xmlns:a16="http://schemas.microsoft.com/office/drawing/2014/main" id="{F9D465B2-01D7-703B-FC06-E7A3A221C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680" y="1690688"/>
            <a:ext cx="1214437" cy="1214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insurance shield icon 18923909 PNG">
            <a:extLst>
              <a:ext uri="{FF2B5EF4-FFF2-40B4-BE49-F238E27FC236}">
                <a16:creationId xmlns:a16="http://schemas.microsoft.com/office/drawing/2014/main" id="{352458B4-1E49-2C47-4C20-32079AC62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43" y="5000626"/>
            <a:ext cx="1172374" cy="1397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4AB7E0-A255-DB7A-484C-9D8B5D67681F}"/>
              </a:ext>
            </a:extLst>
          </p:cNvPr>
          <p:cNvSpPr txBox="1">
            <a:spLocks/>
          </p:cNvSpPr>
          <p:nvPr/>
        </p:nvSpPr>
        <p:spPr>
          <a:xfrm>
            <a:off x="2519361" y="3433762"/>
            <a:ext cx="5972177" cy="109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Anti-corruption and accountability are key policy levers. Accountability reduces corruption risk.</a:t>
            </a:r>
          </a:p>
          <a:p>
            <a:endParaRPr lang="en-US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6C1A88-0310-A69F-E495-C92071656F97}"/>
              </a:ext>
            </a:extLst>
          </p:cNvPr>
          <p:cNvSpPr txBox="1">
            <a:spLocks/>
          </p:cNvSpPr>
          <p:nvPr/>
        </p:nvSpPr>
        <p:spPr>
          <a:xfrm>
            <a:off x="2519361" y="5138736"/>
            <a:ext cx="6424614" cy="12598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Democracies can create higher expectations, not always higher satisfaction.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9F83F2-9F65-BAA0-8F9B-B14C9D915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506" y="3214688"/>
            <a:ext cx="147637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234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E4DBA-FCD6-D9D6-F59D-8433A4B15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C1CA6-AF09-4CE0-425C-55349A347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817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1993</TotalTime>
  <Words>768</Words>
  <Application>Microsoft Office PowerPoint</Application>
  <PresentationFormat>Widescreen</PresentationFormat>
  <Paragraphs>124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Analyzing Global Political Satisfaction:  The Roles of Well-Being, Hardship, Trust, and Corruption Across Regime Types </vt:lpstr>
      <vt:lpstr>Research Problem</vt:lpstr>
      <vt:lpstr>Literature and Hypotheses</vt:lpstr>
      <vt:lpstr>Data and Measures</vt:lpstr>
      <vt:lpstr>Exploratory Data Analysis </vt:lpstr>
      <vt:lpstr>Model Strategy</vt:lpstr>
      <vt:lpstr>Model 1 &amp; 2 Results</vt:lpstr>
      <vt:lpstr>Model 4 results</vt:lpstr>
      <vt:lpstr>Diagnostics and Subgroup Patterns-acceptance tests</vt:lpstr>
      <vt:lpstr>Conclusion and Recommendations</vt:lpstr>
      <vt:lpstr>Appendix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Sohel Mahmud</dc:creator>
  <cp:lastModifiedBy>Sohel Mahmud</cp:lastModifiedBy>
  <cp:revision>49</cp:revision>
  <dcterms:created xsi:type="dcterms:W3CDTF">2026-04-26T19:49:24Z</dcterms:created>
  <dcterms:modified xsi:type="dcterms:W3CDTF">2026-04-28T05:02:25Z</dcterms:modified>
</cp:coreProperties>
</file>